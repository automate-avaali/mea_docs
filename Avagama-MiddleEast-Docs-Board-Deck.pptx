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24384000" cy="13716000"/>
  <p:notesSz cx="13716000" cy="2438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32" d="100"/>
          <a:sy n="32" d="100"/>
        </p:scale>
        <p:origin x="72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0609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upload a scanned Arabic/English contract, ask a question in Arabic, English or Urdu, get the answer with the page it came from. The rest of this deck is how it works and why it beats an off-the-shelf tool.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The documents are scanned, bilingual, full of tables and handwriting. People ask in three languages. Nothing off the shelf handles that combination.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Stages 2, 4 and 5 are where our engineering sits.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differentiator. Most products do vector search only. Exact tokens - CR numbers, IBANs, product codes like SSPET 250ml - are exactly what vectors blur and keyword search nails. Paraphrases and cross-language matches are the opposite. We run both and let the reranker decide.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"why not just buy a RAG tool". Every rule is applied identically to the stored text and to the question, so the variants always meet. Example: alef has four written forms, and a contract will use more than one of them for the same word.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score is cheap and broad; the second is accurate and costly, so we only spend it on 30 passages. Every source shown in the app carries its final score.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OCR is where most document AI projects quietly fail: the text looks right but the numbers inside the tables are wrong. We read with Gemini, keep table structure, and cross-check against a second engine.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two-word Arabic question defeats statistical language detectors. Ours reads the script itself, plus the letters that exist only in Urdu, which is what separates Urdu from Arabic.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is the single biggest reason document AI fails an audit. We handle it three ways, and the benchmark deliberately includes a question whose answer is absent from the documents.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arguments: quality in Arabic, and sovereignty. Be precise - today we call the regional Fanar API. Because the weights are openly licensed we can move it onto MenaBev infrastructure by changing one setting. Do not claim certifications we have not verified.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benchmark runs against the live application end to end: it creates a throwaway account, uploads the real contracts, asks every question, scores the answers and deletes the account. Nothing is mocked or stubbed.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plainly that these are pilot-set numbers. Re-run the benchmark the day before the board meeting so the figures on this slide are current.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techno-functional case. Each row is a decision we made deliberately, and each one is measured by the golden set.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line to leave the room with.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asks: the rollout document set, the hosting decision, and business owners to extend the benchmark.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VAALI_CONTENT">
    <p:bg>
      <p:bgPr>
        <a:solidFill>
          <a:srgbClr val="FEF7FE"/>
        </a:solidFill>
        <a:effectLst/>
      </p:bgPr>
    </p:bg>
    <p:spTree>
      <p:nvGrpSpPr>
        <p:cNvPr id="1" name=""/>
        <p:cNvGrpSpPr/>
        <p:nvPr/>
      </p:nvGrpSpPr>
      <p:grpSpPr>
        <a:xfrm>
          <a:off x="0" y="0"/>
          <a:ext cx="0" cy="0"/>
          <a:chOff x="0" y="0"/>
          <a:chExt cx="0" cy="0"/>
        </a:xfrm>
      </p:grpSpPr>
      <p:sp>
        <p:nvSpPr>
          <p:cNvPr id="2" name="Shape 0"/>
          <p:cNvSpPr/>
          <p:nvPr/>
        </p:nvSpPr>
        <p:spPr>
          <a:xfrm>
            <a:off x="0" y="12609576"/>
            <a:ext cx="24384305" cy="1106424"/>
          </a:xfrm>
          <a:prstGeom prst="rect">
            <a:avLst/>
          </a:prstGeom>
          <a:solidFill>
            <a:srgbClr val="2F1757"/>
          </a:solidFill>
          <a:ln w="12700">
            <a:solidFill>
              <a:srgbClr val="2F1757"/>
            </a:solidFill>
            <a:prstDash val="solid"/>
          </a:ln>
        </p:spPr>
      </p:sp>
      <p:pic>
        <p:nvPicPr>
          <p:cNvPr id="3" name="Image 0" descr="C:\Users\Dell\.claude\skills\synced\eb4eaa5e-fe0b-45c9-9571-743d8da5acee_0850b5be-1ed7-4d2f-80b3-99313ab5efc0\avaali-brand-pptx\assets\brand\avaali_logo_red.png"/>
          <p:cNvPicPr>
            <a:picLocks noChangeAspect="1"/>
          </p:cNvPicPr>
          <p:nvPr/>
        </p:nvPicPr>
        <p:blipFill>
          <a:blip r:embed="rId2"/>
          <a:stretch>
            <a:fillRect/>
          </a:stretch>
        </p:blipFill>
        <p:spPr>
          <a:xfrm>
            <a:off x="21360384" y="12810744"/>
            <a:ext cx="2423160" cy="685800"/>
          </a:xfrm>
          <a:prstGeom prst="rect">
            <a:avLst/>
          </a:prstGeom>
        </p:spPr>
      </p:pic>
      <p:sp>
        <p:nvSpPr>
          <p:cNvPr id="25" name="Slide Number Placeholder 0"/>
          <p:cNvSpPr>
            <a:spLocks noGrp="1"/>
          </p:cNvSpPr>
          <p:nvPr>
            <p:ph type="sldNum" sz="quarter" idx="4294967295"/>
          </p:nvPr>
        </p:nvSpPr>
        <p:spPr>
          <a:xfrm>
            <a:off x="20208240" y="12911328"/>
            <a:ext cx="82296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DDF5"/>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VAALI_SECTION">
    <p:bg>
      <p:bgPr>
        <a:solidFill>
          <a:srgbClr val="3A1D5D"/>
        </a:solidFill>
        <a:effectLst/>
      </p:bgPr>
    </p:bg>
    <p:spTree>
      <p:nvGrpSpPr>
        <p:cNvPr id="1" name=""/>
        <p:cNvGrpSpPr/>
        <p:nvPr/>
      </p:nvGrpSpPr>
      <p:grpSpPr>
        <a:xfrm>
          <a:off x="0" y="0"/>
          <a:ext cx="0" cy="0"/>
          <a:chOff x="0" y="0"/>
          <a:chExt cx="0" cy="0"/>
        </a:xfrm>
      </p:grpSpPr>
      <p:pic>
        <p:nvPicPr>
          <p:cNvPr id="2" name="Image 0" descr="C:\Users\Dell\.claude\skills\synced\eb4eaa5e-fe0b-45c9-9571-743d8da5acee_0850b5be-1ed7-4d2f-80b3-99313ab5efc0\avaali-brand-pptx\assets\brand\avaali_logo_red.png"/>
          <p:cNvPicPr>
            <a:picLocks noChangeAspect="1"/>
          </p:cNvPicPr>
          <p:nvPr/>
        </p:nvPicPr>
        <p:blipFill>
          <a:blip r:embed="rId2"/>
          <a:stretch>
            <a:fillRect/>
          </a:stretch>
        </p:blipFill>
        <p:spPr>
          <a:xfrm>
            <a:off x="21360384" y="12810744"/>
            <a:ext cx="2423160" cy="6858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VAALI_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VAALI_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VAALI_DARK">
    <p:bg>
      <p:bgPr>
        <a:solidFill>
          <a:srgbClr val="280458"/>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0208240" y="12911328"/>
            <a:ext cx="82296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DDF5"/>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hyperlink" Target="https://www.avaali.com" TargetMode="External"/><Relationship Id="rId5" Type="http://schemas.openxmlformats.org/officeDocument/2006/relationships/hyperlink" Target="mailto:info@avaali.com" TargetMode="Externa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Dell\.claude\skills\synced\eb4eaa5e-fe0b-45c9-9571-743d8da5acee_0850b5be-1ed7-4d2f-80b3-99313ab5efc0\avaali-brand-pptx\assets\brand\avaali_logo_red.png"/>
          <p:cNvPicPr>
            <a:picLocks noChangeAspect="1"/>
          </p:cNvPicPr>
          <p:nvPr/>
        </p:nvPicPr>
        <p:blipFill>
          <a:blip r:embed="rId3"/>
          <a:stretch>
            <a:fillRect/>
          </a:stretch>
        </p:blipFill>
        <p:spPr>
          <a:xfrm>
            <a:off x="859536" y="1051560"/>
            <a:ext cx="3054096" cy="859536"/>
          </a:xfrm>
          <a:prstGeom prst="rect">
            <a:avLst/>
          </a:prstGeom>
        </p:spPr>
      </p:pic>
      <p:sp>
        <p:nvSpPr>
          <p:cNvPr id="3" name="Text 0"/>
          <p:cNvSpPr txBox="1"/>
          <p:nvPr/>
        </p:nvSpPr>
        <p:spPr>
          <a:xfrm>
            <a:off x="777240" y="2103120"/>
            <a:ext cx="14173200" cy="4572000"/>
          </a:xfrm>
          <a:prstGeom prst="rect">
            <a:avLst/>
          </a:prstGeom>
          <a:noFill/>
          <a:ln/>
        </p:spPr>
        <p:txBody>
          <a:bodyPr wrap="square" lIns="0" tIns="0" rIns="0" bIns="0" rtlCol="0" anchor="b">
            <a:normAutofit/>
          </a:bodyPr>
          <a:lstStyle/>
          <a:p>
            <a:pPr marL="0" indent="0">
              <a:lnSpc>
                <a:spcPct val="85000"/>
              </a:lnSpc>
              <a:buNone/>
            </a:pPr>
            <a:r>
              <a:rPr lang="en-US" sz="11500" dirty="0">
                <a:solidFill>
                  <a:srgbClr val="37205D"/>
                </a:solidFill>
                <a:latin typeface="Bodoni MT" pitchFamily="34" charset="0"/>
                <a:ea typeface="Bodoni MT" pitchFamily="34" charset="-122"/>
                <a:cs typeface="Bodoni MT" pitchFamily="34" charset="-120"/>
              </a:rPr>
              <a:t>Avagama</a:t>
            </a:r>
            <a:endParaRPr lang="en-US" sz="11500" dirty="0"/>
          </a:p>
          <a:p>
            <a:pPr marL="0" indent="0">
              <a:lnSpc>
                <a:spcPct val="85000"/>
              </a:lnSpc>
              <a:buNone/>
            </a:pPr>
            <a:r>
              <a:rPr lang="en-US" sz="11500" i="1" dirty="0">
                <a:solidFill>
                  <a:srgbClr val="D03A20"/>
                </a:solidFill>
                <a:latin typeface="Bodoni MT" pitchFamily="34" charset="0"/>
                <a:ea typeface="Bodoni MT" pitchFamily="34" charset="-122"/>
                <a:cs typeface="Bodoni MT" pitchFamily="34" charset="-120"/>
              </a:rPr>
              <a:t>MiddleEast</a:t>
            </a:r>
            <a:r>
              <a:rPr lang="en-US" sz="11500" dirty="0">
                <a:solidFill>
                  <a:srgbClr val="37205D"/>
                </a:solidFill>
                <a:latin typeface="Bodoni MT" pitchFamily="34" charset="0"/>
                <a:ea typeface="Bodoni MT" pitchFamily="34" charset="-122"/>
                <a:cs typeface="Bodoni MT" pitchFamily="34" charset="-120"/>
              </a:rPr>
              <a:t> Docs</a:t>
            </a:r>
            <a:endParaRPr lang="en-US" sz="11500" dirty="0"/>
          </a:p>
        </p:txBody>
      </p:sp>
      <p:pic>
        <p:nvPicPr>
          <p:cNvPr id="4" name="Image 1" descr="C:\Users\Dell\.claude\skills\synced\eb4eaa5e-fe0b-45c9-9571-743d8da5acee_0850b5be-1ed7-4d2f-80b3-99313ab5efc0\avaali-brand-pptx\assets\brand\red_underline.png"/>
          <p:cNvPicPr>
            <a:picLocks noChangeAspect="1"/>
          </p:cNvPicPr>
          <p:nvPr/>
        </p:nvPicPr>
        <p:blipFill>
          <a:blip r:embed="rId4"/>
          <a:stretch>
            <a:fillRect/>
          </a:stretch>
        </p:blipFill>
        <p:spPr>
          <a:xfrm>
            <a:off x="868680" y="7086600"/>
            <a:ext cx="2423160" cy="73152"/>
          </a:xfrm>
          <a:prstGeom prst="rect">
            <a:avLst/>
          </a:prstGeom>
        </p:spPr>
      </p:pic>
      <p:sp>
        <p:nvSpPr>
          <p:cNvPr id="5" name="Text 1"/>
          <p:cNvSpPr txBox="1"/>
          <p:nvPr/>
        </p:nvSpPr>
        <p:spPr>
          <a:xfrm>
            <a:off x="868680" y="7498080"/>
            <a:ext cx="13716000" cy="685800"/>
          </a:xfrm>
          <a:prstGeom prst="rect">
            <a:avLst/>
          </a:prstGeom>
          <a:noFill/>
          <a:ln/>
        </p:spPr>
        <p:txBody>
          <a:bodyPr wrap="square" lIns="0" tIns="0" rIns="0" bIns="0" rtlCol="0" anchor="ctr"/>
          <a:lstStyle/>
          <a:p>
            <a:pPr marL="0" indent="0">
              <a:buNone/>
            </a:pPr>
            <a:r>
              <a:rPr lang="en-US" sz="2500" b="1" kern="0" spc="300" dirty="0">
                <a:solidFill>
                  <a:srgbClr val="616169"/>
                </a:solidFill>
                <a:latin typeface="Arial" pitchFamily="34" charset="0"/>
                <a:ea typeface="Arial" pitchFamily="34" charset="-122"/>
                <a:cs typeface="Arial" pitchFamily="34" charset="-120"/>
              </a:rPr>
              <a:t>ASK YOUR DOCUMENTS.   IN YOUR LANGUAGE.</a:t>
            </a:r>
            <a:endParaRPr lang="en-US" sz="2500" dirty="0"/>
          </a:p>
        </p:txBody>
      </p:sp>
      <p:sp>
        <p:nvSpPr>
          <p:cNvPr id="6" name="Text 2"/>
          <p:cNvSpPr txBox="1"/>
          <p:nvPr/>
        </p:nvSpPr>
        <p:spPr>
          <a:xfrm>
            <a:off x="868680" y="8412480"/>
            <a:ext cx="11704320" cy="2377440"/>
          </a:xfrm>
          <a:prstGeom prst="rect">
            <a:avLst/>
          </a:prstGeom>
          <a:noFill/>
          <a:ln/>
        </p:spPr>
        <p:txBody>
          <a:bodyPr wrap="square" lIns="0" tIns="0" rIns="0" bIns="0" rtlCol="0" anchor="t">
            <a:normAutofit/>
          </a:bodyPr>
          <a:lstStyle/>
          <a:p>
            <a:pPr marL="0" indent="0">
              <a:lnSpc>
                <a:spcPct val="130000"/>
              </a:lnSpc>
              <a:buNone/>
            </a:pPr>
            <a:r>
              <a:rPr lang="en-US" sz="2400" dirty="0">
                <a:solidFill>
                  <a:srgbClr val="262629"/>
                </a:solidFill>
                <a:latin typeface="Arial" pitchFamily="34" charset="0"/>
                <a:ea typeface="Arial" pitchFamily="34" charset="-122"/>
                <a:cs typeface="Arial" pitchFamily="34" charset="-120"/>
              </a:rPr>
              <a:t>A question-answering platform for Arabic and English contracts - built around a retrieval engine we designed for Gulf documents, not a generic one we bought.</a:t>
            </a:r>
            <a:endParaRPr lang="en-US" sz="2400" dirty="0"/>
          </a:p>
        </p:txBody>
      </p:sp>
      <p:pic>
        <p:nvPicPr>
          <p:cNvPr id="7" name="Image 2" descr="C:\Users\Dell\.claude\skills\synced\eb4eaa5e-fe0b-45c9-9571-743d8da5acee_0850b5be-1ed7-4d2f-80b3-99313ab5efc0\avaali-brand-pptx\assets\brand\red_underline.png"/>
          <p:cNvPicPr>
            <a:picLocks noChangeAspect="1"/>
          </p:cNvPicPr>
          <p:nvPr/>
        </p:nvPicPr>
        <p:blipFill>
          <a:blip r:embed="rId4"/>
          <a:stretch>
            <a:fillRect/>
          </a:stretch>
        </p:blipFill>
        <p:spPr>
          <a:xfrm>
            <a:off x="868680" y="11247120"/>
            <a:ext cx="2423160" cy="73152"/>
          </a:xfrm>
          <a:prstGeom prst="rect">
            <a:avLst/>
          </a:prstGeom>
        </p:spPr>
      </p:pic>
      <p:sp>
        <p:nvSpPr>
          <p:cNvPr id="8" name="Text 3"/>
          <p:cNvSpPr txBox="1"/>
          <p:nvPr/>
        </p:nvSpPr>
        <p:spPr>
          <a:xfrm>
            <a:off x="868680" y="11612880"/>
            <a:ext cx="12801600" cy="640080"/>
          </a:xfrm>
          <a:prstGeom prst="rect">
            <a:avLst/>
          </a:prstGeom>
          <a:noFill/>
          <a:ln/>
        </p:spPr>
        <p:txBody>
          <a:bodyPr wrap="square" lIns="0" tIns="0" rIns="0" bIns="0" rtlCol="0" anchor="ctr"/>
          <a:lstStyle/>
          <a:p>
            <a:pPr marL="0" indent="0">
              <a:buNone/>
            </a:pPr>
            <a:r>
              <a:rPr lang="en-US" sz="2000" dirty="0">
                <a:solidFill>
                  <a:srgbClr val="616169"/>
                </a:solidFill>
                <a:latin typeface="Arial" pitchFamily="34" charset="0"/>
                <a:ea typeface="Arial" pitchFamily="34" charset="-122"/>
                <a:cs typeface="Arial" pitchFamily="34" charset="-120"/>
              </a:rPr>
              <a:t>MenaBev  |  Board Review  |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12064" y="91440"/>
            <a:ext cx="6400800" cy="1737360"/>
          </a:xfrm>
          <a:prstGeom prst="rect">
            <a:avLst/>
          </a:prstGeom>
          <a:noFill/>
          <a:ln/>
        </p:spPr>
        <p:txBody>
          <a:bodyPr wrap="none" lIns="0" tIns="0" rIns="0" bIns="0" rtlCol="0" anchor="b"/>
          <a:lstStyle/>
          <a:p>
            <a:pPr marL="0" indent="0">
              <a:buNone/>
            </a:pPr>
            <a:r>
              <a:rPr lang="en-US" sz="6000" b="1" dirty="0">
                <a:solidFill>
                  <a:srgbClr val="37205D"/>
                </a:solidFill>
                <a:latin typeface="Bodoni MT" pitchFamily="34" charset="0"/>
                <a:ea typeface="Bodoni MT" pitchFamily="34" charset="-122"/>
                <a:cs typeface="Bodoni MT" pitchFamily="34" charset="-120"/>
              </a:rPr>
              <a:t>What it does</a:t>
            </a:r>
            <a:endParaRPr lang="en-US" sz="6000" dirty="0"/>
          </a:p>
        </p:txBody>
      </p:sp>
      <p:pic>
        <p:nvPicPr>
          <p:cNvPr id="3" name="Image 0" descr="C:\Users\Dell\.claude\skills\synced\eb4eaa5e-fe0b-45c9-9571-743d8da5acee_0850b5be-1ed7-4d2f-80b3-99313ab5efc0\avaali-brand-pptx\assets\brand\red_underline.png"/>
          <p:cNvPicPr>
            <a:picLocks noChangeAspect="1"/>
          </p:cNvPicPr>
          <p:nvPr/>
        </p:nvPicPr>
        <p:blipFill>
          <a:blip r:embed="rId3"/>
          <a:stretch>
            <a:fillRect/>
          </a:stretch>
        </p:blipFill>
        <p:spPr>
          <a:xfrm>
            <a:off x="530352" y="1847088"/>
            <a:ext cx="2423160" cy="73152"/>
          </a:xfrm>
          <a:prstGeom prst="rect">
            <a:avLst/>
          </a:prstGeom>
        </p:spPr>
      </p:pic>
      <p:sp>
        <p:nvSpPr>
          <p:cNvPr id="4" name="Shape 1"/>
          <p:cNvSpPr/>
          <p:nvPr/>
        </p:nvSpPr>
        <p:spPr>
          <a:xfrm>
            <a:off x="7232904" y="594360"/>
            <a:ext cx="0" cy="960120"/>
          </a:xfrm>
          <a:prstGeom prst="line">
            <a:avLst/>
          </a:prstGeom>
          <a:noFill/>
          <a:ln w="15875">
            <a:solidFill>
              <a:srgbClr val="929292"/>
            </a:solidFill>
            <a:prstDash val="solid"/>
          </a:ln>
        </p:spPr>
        <p:txBody>
          <a:bodyPr/>
          <a:lstStyle/>
          <a:p>
            <a:endParaRPr lang="en-IN"/>
          </a:p>
        </p:txBody>
      </p:sp>
      <p:sp>
        <p:nvSpPr>
          <p:cNvPr id="5" name="Text 2"/>
          <p:cNvSpPr txBox="1"/>
          <p:nvPr/>
        </p:nvSpPr>
        <p:spPr>
          <a:xfrm>
            <a:off x="7507224" y="411480"/>
            <a:ext cx="16511321" cy="1463040"/>
          </a:xfrm>
          <a:prstGeom prst="rect">
            <a:avLst/>
          </a:prstGeom>
          <a:noFill/>
          <a:ln/>
        </p:spPr>
        <p:txBody>
          <a:bodyPr wrap="square" lIns="0" tIns="0" rIns="0" bIns="0" rtlCol="0" anchor="ctr">
            <a:normAutofit/>
          </a:bodyPr>
          <a:lstStyle/>
          <a:p>
            <a:pPr marL="0" indent="0">
              <a:lnSpc>
                <a:spcPct val="115000"/>
              </a:lnSpc>
              <a:buNone/>
            </a:pPr>
            <a:r>
              <a:rPr lang="en-US" sz="2700" dirty="0">
                <a:solidFill>
                  <a:srgbClr val="262629"/>
                </a:solidFill>
                <a:latin typeface="Arial" pitchFamily="34" charset="0"/>
                <a:ea typeface="Arial" pitchFamily="34" charset="-122"/>
                <a:cs typeface="Arial" pitchFamily="34" charset="-120"/>
              </a:rPr>
              <a:t>Scanned bilingual contracts in - plain answers with the exact page out.</a:t>
            </a:r>
            <a:endParaRPr lang="en-US" sz="2700" dirty="0"/>
          </a:p>
        </p:txBody>
      </p:sp>
      <p:sp>
        <p:nvSpPr>
          <p:cNvPr id="6" name="Text 3"/>
          <p:cNvSpPr txBox="1"/>
          <p:nvPr/>
        </p:nvSpPr>
        <p:spPr>
          <a:xfrm>
            <a:off x="1289304" y="12755880"/>
            <a:ext cx="19019520" cy="822960"/>
          </a:xfrm>
          <a:prstGeom prst="rect">
            <a:avLst/>
          </a:prstGeom>
          <a:noFill/>
          <a:ln/>
        </p:spPr>
        <p:txBody>
          <a:bodyPr wrap="square" lIns="0" tIns="0" rIns="0" bIns="0" rtlCol="0" anchor="ctr">
            <a:normAutofit/>
          </a:bodyPr>
          <a:lstStyle/>
          <a:p>
            <a:pPr marL="0" indent="0" algn="ctr">
              <a:buNone/>
            </a:pPr>
            <a:r>
              <a:rPr lang="en-US" sz="2200" dirty="0">
                <a:solidFill>
                  <a:srgbClr val="FFFFFF"/>
                </a:solidFill>
                <a:latin typeface="Bodoni MT" pitchFamily="34" charset="0"/>
                <a:ea typeface="Bodoni MT" pitchFamily="34" charset="-122"/>
                <a:cs typeface="Bodoni MT" pitchFamily="34" charset="-120"/>
              </a:rPr>
              <a:t>Questions answered in </a:t>
            </a:r>
            <a:r>
              <a:rPr lang="en-US" sz="2200" b="1" dirty="0">
                <a:solidFill>
                  <a:srgbClr val="FF0000"/>
                </a:solidFill>
                <a:latin typeface="Bodoni MT" pitchFamily="34" charset="0"/>
                <a:ea typeface="Bodoni MT" pitchFamily="34" charset="-122"/>
                <a:cs typeface="Bodoni MT" pitchFamily="34" charset="-120"/>
              </a:rPr>
              <a:t>3-5 seconds</a:t>
            </a:r>
            <a:r>
              <a:rPr lang="en-US" sz="2200" dirty="0">
                <a:solidFill>
                  <a:srgbClr val="FFFFFF"/>
                </a:solidFill>
                <a:latin typeface="Bodoni MT" pitchFamily="34" charset="0"/>
                <a:ea typeface="Bodoni MT" pitchFamily="34" charset="-122"/>
                <a:cs typeface="Bodoni MT" pitchFamily="34" charset="-120"/>
              </a:rPr>
              <a:t>, every fact traced to a </a:t>
            </a:r>
            <a:r>
              <a:rPr lang="en-US" sz="2200" b="1" dirty="0">
                <a:solidFill>
                  <a:srgbClr val="FF0000"/>
                </a:solidFill>
                <a:latin typeface="Bodoni MT" pitchFamily="34" charset="0"/>
                <a:ea typeface="Bodoni MT" pitchFamily="34" charset="-122"/>
                <a:cs typeface="Bodoni MT" pitchFamily="34" charset="-120"/>
              </a:rPr>
              <a:t>page number</a:t>
            </a:r>
            <a:endParaRPr lang="en-US" sz="2200" dirty="0"/>
          </a:p>
        </p:txBody>
      </p:sp>
      <p:sp>
        <p:nvSpPr>
          <p:cNvPr id="8" name="Shape 4"/>
          <p:cNvSpPr/>
          <p:nvPr/>
        </p:nvSpPr>
        <p:spPr>
          <a:xfrm>
            <a:off x="512064" y="2423160"/>
            <a:ext cx="7513320" cy="3308421"/>
          </a:xfrm>
          <a:prstGeom prst="rect">
            <a:avLst/>
          </a:prstGeom>
          <a:solidFill>
            <a:srgbClr val="E6DDF5"/>
          </a:solidFill>
          <a:ln w="12700">
            <a:solidFill>
              <a:srgbClr val="E6DDF5"/>
            </a:solidFill>
            <a:prstDash val="solid"/>
          </a:ln>
        </p:spPr>
        <p:txBody>
          <a:bodyPr/>
          <a:lstStyle/>
          <a:p>
            <a:endParaRPr lang="en-IN"/>
          </a:p>
        </p:txBody>
      </p:sp>
      <p:sp>
        <p:nvSpPr>
          <p:cNvPr id="9" name="Text 5"/>
          <p:cNvSpPr txBox="1"/>
          <p:nvPr/>
        </p:nvSpPr>
        <p:spPr>
          <a:xfrm>
            <a:off x="832104" y="2697480"/>
            <a:ext cx="6873240" cy="2759781"/>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The documents</a:t>
            </a:r>
            <a:endParaRPr lang="en-US" sz="3000" dirty="0"/>
          </a:p>
          <a:p>
            <a:pPr marL="279400" indent="-279400" algn="l">
              <a:lnSpc>
                <a:spcPct val="120000"/>
              </a:lnSpc>
              <a:spcAft>
                <a:spcPts val="800"/>
              </a:spcAft>
              <a:buSzPct val="100000"/>
              <a:buChar char="•"/>
            </a:pPr>
            <a:r>
              <a:rPr lang="en-US" sz="2400" dirty="0">
                <a:solidFill>
                  <a:srgbClr val="262629"/>
                </a:solidFill>
                <a:latin typeface="Arial" pitchFamily="34" charset="0"/>
                <a:ea typeface="Arial" pitchFamily="34" charset="-122"/>
                <a:cs typeface="Arial" pitchFamily="34" charset="-120"/>
              </a:rPr>
              <a:t>Scanned PDFs, not clean digital text</a:t>
            </a:r>
            <a:endParaRPr lang="en-US" sz="3000" dirty="0"/>
          </a:p>
          <a:p>
            <a:pPr marL="279400" indent="-279400" algn="l">
              <a:lnSpc>
                <a:spcPct val="120000"/>
              </a:lnSpc>
              <a:spcAft>
                <a:spcPts val="800"/>
              </a:spcAft>
              <a:buSzPct val="100000"/>
              <a:buChar char="•"/>
            </a:pPr>
            <a:r>
              <a:rPr lang="en-US" sz="2400" dirty="0">
                <a:solidFill>
                  <a:srgbClr val="262629"/>
                </a:solidFill>
                <a:latin typeface="Arial" pitchFamily="34" charset="0"/>
                <a:ea typeface="Arial" pitchFamily="34" charset="-122"/>
                <a:cs typeface="Arial" pitchFamily="34" charset="-120"/>
              </a:rPr>
              <a:t>Arabic and English on the same page</a:t>
            </a:r>
            <a:endParaRPr lang="en-US" sz="3000" dirty="0"/>
          </a:p>
          <a:p>
            <a:pPr marL="279400" indent="-279400" algn="l">
              <a:lnSpc>
                <a:spcPct val="120000"/>
              </a:lnSpc>
              <a:spcAft>
                <a:spcPts val="800"/>
              </a:spcAft>
              <a:buSzPct val="100000"/>
              <a:buChar char="•"/>
            </a:pPr>
            <a:r>
              <a:rPr lang="en-US" sz="2400" dirty="0">
                <a:solidFill>
                  <a:srgbClr val="262629"/>
                </a:solidFill>
                <a:latin typeface="Arial" pitchFamily="34" charset="0"/>
                <a:ea typeface="Arial" pitchFamily="34" charset="-122"/>
                <a:cs typeface="Arial" pitchFamily="34" charset="-120"/>
              </a:rPr>
              <a:t>Prices and discounts locked inside tables</a:t>
            </a:r>
            <a:endParaRPr lang="en-US" sz="3000" dirty="0"/>
          </a:p>
          <a:p>
            <a:pPr marL="279400" indent="-279400" algn="l">
              <a:lnSpc>
                <a:spcPct val="120000"/>
              </a:lnSpc>
              <a:spcAft>
                <a:spcPts val="800"/>
              </a:spcAft>
              <a:buSzPct val="100000"/>
              <a:buChar char="•"/>
            </a:pPr>
            <a:r>
              <a:rPr lang="en-US" sz="2400" dirty="0">
                <a:solidFill>
                  <a:srgbClr val="262629"/>
                </a:solidFill>
                <a:latin typeface="Arial" pitchFamily="34" charset="0"/>
                <a:ea typeface="Arial" pitchFamily="34" charset="-122"/>
                <a:cs typeface="Arial" pitchFamily="34" charset="-120"/>
              </a:rPr>
              <a:t>Handwritten annexes and stamps</a:t>
            </a:r>
            <a:endParaRPr lang="en-US" sz="3000" dirty="0"/>
          </a:p>
        </p:txBody>
      </p:sp>
      <p:sp>
        <p:nvSpPr>
          <p:cNvPr id="10" name="Shape 6"/>
          <p:cNvSpPr/>
          <p:nvPr/>
        </p:nvSpPr>
        <p:spPr>
          <a:xfrm>
            <a:off x="8436864" y="2423160"/>
            <a:ext cx="7513320" cy="3308421"/>
          </a:xfrm>
          <a:prstGeom prst="rect">
            <a:avLst/>
          </a:prstGeom>
          <a:solidFill>
            <a:srgbClr val="FCEDD7"/>
          </a:solidFill>
          <a:ln w="12700">
            <a:solidFill>
              <a:srgbClr val="FCEDD7"/>
            </a:solidFill>
            <a:prstDash val="solid"/>
          </a:ln>
        </p:spPr>
        <p:txBody>
          <a:bodyPr/>
          <a:lstStyle/>
          <a:p>
            <a:endParaRPr lang="en-IN"/>
          </a:p>
        </p:txBody>
      </p:sp>
      <p:sp>
        <p:nvSpPr>
          <p:cNvPr id="11" name="Text 7"/>
          <p:cNvSpPr txBox="1"/>
          <p:nvPr/>
        </p:nvSpPr>
        <p:spPr>
          <a:xfrm>
            <a:off x="8756904" y="2697480"/>
            <a:ext cx="6873240" cy="2759781"/>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The people</a:t>
            </a:r>
            <a:endParaRPr lang="en-US" sz="3000" dirty="0"/>
          </a:p>
          <a:p>
            <a:pPr marL="279400" indent="-279400" algn="l">
              <a:lnSpc>
                <a:spcPct val="120000"/>
              </a:lnSpc>
              <a:spcAft>
                <a:spcPts val="800"/>
              </a:spcAft>
              <a:buSzPct val="100000"/>
              <a:buChar char="•"/>
            </a:pPr>
            <a:r>
              <a:rPr lang="en-US" sz="2400" dirty="0">
                <a:solidFill>
                  <a:srgbClr val="262629"/>
                </a:solidFill>
                <a:latin typeface="Arial" pitchFamily="34" charset="0"/>
                <a:ea typeface="Arial" pitchFamily="34" charset="-122"/>
                <a:cs typeface="Arial" pitchFamily="34" charset="-120"/>
              </a:rPr>
              <a:t>Ask in Arabic, English or Urdu</a:t>
            </a:r>
            <a:endParaRPr lang="en-US" sz="3000" dirty="0"/>
          </a:p>
          <a:p>
            <a:pPr marL="279400" indent="-279400" algn="l">
              <a:lnSpc>
                <a:spcPct val="120000"/>
              </a:lnSpc>
              <a:spcAft>
                <a:spcPts val="800"/>
              </a:spcAft>
              <a:buSzPct val="100000"/>
              <a:buChar char="•"/>
            </a:pPr>
            <a:r>
              <a:rPr lang="en-US" sz="2400" dirty="0">
                <a:solidFill>
                  <a:srgbClr val="262629"/>
                </a:solidFill>
                <a:latin typeface="Arial" pitchFamily="34" charset="0"/>
                <a:ea typeface="Arial" pitchFamily="34" charset="-122"/>
                <a:cs typeface="Arial" pitchFamily="34" charset="-120"/>
              </a:rPr>
              <a:t>Short questions - "and the fridges?"</a:t>
            </a:r>
            <a:endParaRPr lang="en-US" sz="3000" dirty="0"/>
          </a:p>
          <a:p>
            <a:pPr marL="279400" indent="-279400" algn="l">
              <a:lnSpc>
                <a:spcPct val="120000"/>
              </a:lnSpc>
              <a:spcAft>
                <a:spcPts val="800"/>
              </a:spcAft>
              <a:buSzPct val="100000"/>
              <a:buChar char="•"/>
            </a:pPr>
            <a:r>
              <a:rPr lang="en-US" sz="2400" dirty="0">
                <a:solidFill>
                  <a:srgbClr val="262629"/>
                </a:solidFill>
                <a:latin typeface="Arial" pitchFamily="34" charset="0"/>
                <a:ea typeface="Arial" pitchFamily="34" charset="-122"/>
                <a:cs typeface="Arial" pitchFamily="34" charset="-120"/>
              </a:rPr>
              <a:t>Need the answer, not ten search results</a:t>
            </a:r>
            <a:endParaRPr lang="en-US" sz="3000" dirty="0"/>
          </a:p>
          <a:p>
            <a:pPr marL="279400" indent="-279400" algn="l">
              <a:lnSpc>
                <a:spcPct val="120000"/>
              </a:lnSpc>
              <a:spcAft>
                <a:spcPts val="800"/>
              </a:spcAft>
              <a:buSzPct val="100000"/>
              <a:buChar char="•"/>
            </a:pPr>
            <a:r>
              <a:rPr lang="en-US" sz="2400" dirty="0">
                <a:solidFill>
                  <a:srgbClr val="262629"/>
                </a:solidFill>
                <a:latin typeface="Arial" pitchFamily="34" charset="0"/>
                <a:ea typeface="Arial" pitchFamily="34" charset="-122"/>
                <a:cs typeface="Arial" pitchFamily="34" charset="-120"/>
              </a:rPr>
              <a:t>Must be able to check it themselves</a:t>
            </a:r>
            <a:endParaRPr lang="en-US" sz="3000" dirty="0"/>
          </a:p>
        </p:txBody>
      </p:sp>
      <p:sp>
        <p:nvSpPr>
          <p:cNvPr id="12" name="Shape 8"/>
          <p:cNvSpPr/>
          <p:nvPr/>
        </p:nvSpPr>
        <p:spPr>
          <a:xfrm>
            <a:off x="16361664" y="2423160"/>
            <a:ext cx="7513320" cy="3308421"/>
          </a:xfrm>
          <a:prstGeom prst="rect">
            <a:avLst/>
          </a:prstGeom>
          <a:solidFill>
            <a:srgbClr val="F9DCD9"/>
          </a:solidFill>
          <a:ln w="12700">
            <a:solidFill>
              <a:srgbClr val="F9DCD9"/>
            </a:solidFill>
            <a:prstDash val="solid"/>
          </a:ln>
        </p:spPr>
        <p:txBody>
          <a:bodyPr/>
          <a:lstStyle/>
          <a:p>
            <a:endParaRPr lang="en-IN"/>
          </a:p>
        </p:txBody>
      </p:sp>
      <p:sp>
        <p:nvSpPr>
          <p:cNvPr id="13" name="Text 9"/>
          <p:cNvSpPr txBox="1"/>
          <p:nvPr/>
        </p:nvSpPr>
        <p:spPr>
          <a:xfrm>
            <a:off x="16681704" y="2697480"/>
            <a:ext cx="6873240" cy="2759781"/>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What we built</a:t>
            </a:r>
            <a:endParaRPr lang="en-US" sz="3000" dirty="0"/>
          </a:p>
          <a:p>
            <a:pPr marL="279400" indent="-279400" algn="l">
              <a:lnSpc>
                <a:spcPct val="120000"/>
              </a:lnSpc>
              <a:spcAft>
                <a:spcPts val="800"/>
              </a:spcAft>
              <a:buSzPct val="100000"/>
              <a:buChar char="•"/>
            </a:pPr>
            <a:r>
              <a:rPr lang="en-US" sz="2400" dirty="0">
                <a:solidFill>
                  <a:srgbClr val="262629"/>
                </a:solidFill>
                <a:latin typeface="Arial" pitchFamily="34" charset="0"/>
                <a:ea typeface="Arial" pitchFamily="34" charset="-122"/>
                <a:cs typeface="Arial" pitchFamily="34" charset="-120"/>
              </a:rPr>
              <a:t>A retrieval engine customised for Arabic</a:t>
            </a:r>
            <a:endParaRPr lang="en-US" sz="3000" dirty="0"/>
          </a:p>
          <a:p>
            <a:pPr marL="279400" indent="-279400" algn="l">
              <a:lnSpc>
                <a:spcPct val="120000"/>
              </a:lnSpc>
              <a:spcAft>
                <a:spcPts val="800"/>
              </a:spcAft>
              <a:buSzPct val="100000"/>
              <a:buChar char="•"/>
            </a:pPr>
            <a:r>
              <a:rPr lang="en-US" sz="2400" dirty="0">
                <a:solidFill>
                  <a:srgbClr val="262629"/>
                </a:solidFill>
                <a:latin typeface="Arial" pitchFamily="34" charset="0"/>
                <a:ea typeface="Arial" pitchFamily="34" charset="-122"/>
                <a:cs typeface="Arial" pitchFamily="34" charset="-120"/>
              </a:rPr>
              <a:t>A Gulf-built language model (Fanar)</a:t>
            </a:r>
            <a:endParaRPr lang="en-US" sz="3000" dirty="0"/>
          </a:p>
          <a:p>
            <a:pPr marL="279400" indent="-279400" algn="l">
              <a:lnSpc>
                <a:spcPct val="120000"/>
              </a:lnSpc>
              <a:spcAft>
                <a:spcPts val="800"/>
              </a:spcAft>
              <a:buSzPct val="100000"/>
              <a:buChar char="•"/>
            </a:pPr>
            <a:r>
              <a:rPr lang="en-US" sz="2400" dirty="0">
                <a:solidFill>
                  <a:srgbClr val="262629"/>
                </a:solidFill>
                <a:latin typeface="Arial" pitchFamily="34" charset="0"/>
                <a:ea typeface="Arial" pitchFamily="34" charset="-122"/>
                <a:cs typeface="Arial" pitchFamily="34" charset="-120"/>
              </a:rPr>
              <a:t>Page citations on every fact</a:t>
            </a:r>
            <a:endParaRPr lang="en-US" sz="3000" dirty="0"/>
          </a:p>
          <a:p>
            <a:pPr marL="279400" indent="-279400" algn="l">
              <a:lnSpc>
                <a:spcPct val="120000"/>
              </a:lnSpc>
              <a:spcAft>
                <a:spcPts val="800"/>
              </a:spcAft>
              <a:buSzPct val="100000"/>
              <a:buChar char="•"/>
            </a:pPr>
            <a:r>
              <a:rPr lang="en-US" sz="2400" dirty="0">
                <a:solidFill>
                  <a:srgbClr val="262629"/>
                </a:solidFill>
                <a:latin typeface="Arial" pitchFamily="34" charset="0"/>
                <a:ea typeface="Arial" pitchFamily="34" charset="-122"/>
                <a:cs typeface="Arial" pitchFamily="34" charset="-120"/>
              </a:rPr>
              <a:t>A fixed test set that scores every change</a:t>
            </a:r>
            <a:endParaRPr lang="en-US" sz="3000" dirty="0"/>
          </a:p>
        </p:txBody>
      </p:sp>
      <p:sp>
        <p:nvSpPr>
          <p:cNvPr id="25" name="Slide Number Placeholder 0"/>
          <p:cNvSpPr>
            <a:spLocks noGrp="1"/>
          </p:cNvSpPr>
          <p:nvPr>
            <p:ph type="sldNum" sz="quarter" idx="4294967295"/>
          </p:nvPr>
        </p:nvSpPr>
        <p:spPr>
          <a:xfrm>
            <a:off x="20208240" y="12911328"/>
            <a:ext cx="82296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DDF5"/>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1179576" y="6035040"/>
            <a:ext cx="7315200" cy="914400"/>
          </a:xfrm>
          <a:prstGeom prst="rect">
            <a:avLst/>
          </a:prstGeom>
          <a:noFill/>
          <a:ln/>
        </p:spPr>
        <p:txBody>
          <a:bodyPr wrap="square" lIns="0" tIns="0" rIns="0" bIns="0" rtlCol="0" anchor="ctr"/>
          <a:lstStyle/>
          <a:p>
            <a:pPr marL="0" indent="0">
              <a:buNone/>
            </a:pPr>
            <a:r>
              <a:rPr lang="en-US" sz="3000" b="1" kern="0" spc="400" dirty="0">
                <a:solidFill>
                  <a:srgbClr val="F09286"/>
                </a:solidFill>
                <a:latin typeface="Arial" pitchFamily="34" charset="0"/>
                <a:ea typeface="Arial" pitchFamily="34" charset="-122"/>
                <a:cs typeface="Arial" pitchFamily="34" charset="-120"/>
              </a:rPr>
              <a:t>01</a:t>
            </a:r>
            <a:endParaRPr lang="en-US" sz="3000" dirty="0"/>
          </a:p>
        </p:txBody>
      </p:sp>
      <p:sp>
        <p:nvSpPr>
          <p:cNvPr id="3" name="Text 1"/>
          <p:cNvSpPr txBox="1"/>
          <p:nvPr/>
        </p:nvSpPr>
        <p:spPr>
          <a:xfrm>
            <a:off x="1179576" y="6949440"/>
            <a:ext cx="18288000" cy="2377440"/>
          </a:xfrm>
          <a:prstGeom prst="rect">
            <a:avLst/>
          </a:prstGeom>
          <a:noFill/>
          <a:ln/>
        </p:spPr>
        <p:txBody>
          <a:bodyPr wrap="square" lIns="0" tIns="0" rIns="0" bIns="0" rtlCol="0" anchor="t">
            <a:normAutofit/>
          </a:bodyPr>
          <a:lstStyle/>
          <a:p>
            <a:pPr marL="0" indent="0">
              <a:lnSpc>
                <a:spcPct val="90000"/>
              </a:lnSpc>
              <a:buNone/>
            </a:pPr>
            <a:r>
              <a:rPr lang="en-US" sz="8000" dirty="0">
                <a:solidFill>
                  <a:srgbClr val="FFFFFF"/>
                </a:solidFill>
                <a:latin typeface="Bodoni MT" pitchFamily="34" charset="0"/>
                <a:ea typeface="Bodoni MT" pitchFamily="34" charset="-122"/>
                <a:cs typeface="Bodoni MT" pitchFamily="34" charset="-120"/>
              </a:rPr>
              <a:t>How it </a:t>
            </a:r>
            <a:r>
              <a:rPr lang="en-US" sz="8000" i="1" dirty="0">
                <a:solidFill>
                  <a:srgbClr val="F09286"/>
                </a:solidFill>
                <a:latin typeface="Bodoni MT" pitchFamily="34" charset="0"/>
                <a:ea typeface="Bodoni MT" pitchFamily="34" charset="-122"/>
                <a:cs typeface="Bodoni MT" pitchFamily="34" charset="-120"/>
              </a:rPr>
              <a:t>works</a:t>
            </a:r>
            <a:endParaRPr lang="en-US" sz="8000" dirty="0"/>
          </a:p>
        </p:txBody>
      </p:sp>
      <p:pic>
        <p:nvPicPr>
          <p:cNvPr id="4" name="Image 0" descr="C:\Users\Dell\.claude\skills\synced\eb4eaa5e-fe0b-45c9-9571-743d8da5acee_0850b5be-1ed7-4d2f-80b3-99313ab5efc0\avaali-brand-pptx\assets\brand\red_underline.png"/>
          <p:cNvPicPr>
            <a:picLocks noChangeAspect="1"/>
          </p:cNvPicPr>
          <p:nvPr/>
        </p:nvPicPr>
        <p:blipFill>
          <a:blip r:embed="rId3"/>
          <a:stretch>
            <a:fillRect/>
          </a:stretch>
        </p:blipFill>
        <p:spPr>
          <a:xfrm>
            <a:off x="1216152" y="9555480"/>
            <a:ext cx="2423160" cy="73152"/>
          </a:xfrm>
          <a:prstGeom prst="rect">
            <a:avLst/>
          </a:prstGeom>
        </p:spPr>
      </p:pic>
      <p:sp>
        <p:nvSpPr>
          <p:cNvPr id="5" name="Text 2"/>
          <p:cNvSpPr txBox="1"/>
          <p:nvPr/>
        </p:nvSpPr>
        <p:spPr>
          <a:xfrm>
            <a:off x="1179576" y="9966960"/>
            <a:ext cx="12801600" cy="1645920"/>
          </a:xfrm>
          <a:prstGeom prst="rect">
            <a:avLst/>
          </a:prstGeom>
          <a:noFill/>
          <a:ln/>
        </p:spPr>
        <p:txBody>
          <a:bodyPr wrap="square" lIns="0" tIns="0" rIns="0" bIns="0" rtlCol="0" anchor="t">
            <a:normAutofit/>
          </a:bodyPr>
          <a:lstStyle/>
          <a:p>
            <a:pPr marL="0" indent="0">
              <a:buNone/>
            </a:pPr>
            <a:r>
              <a:rPr lang="en-US" sz="2400" dirty="0">
                <a:solidFill>
                  <a:srgbClr val="E6DDF5"/>
                </a:solidFill>
                <a:latin typeface="Arial" pitchFamily="34" charset="0"/>
                <a:ea typeface="Arial" pitchFamily="34" charset="-122"/>
                <a:cs typeface="Arial" pitchFamily="34" charset="-120"/>
              </a:rPr>
              <a:t>Five stages, each one chosen and tuned for Middle East documents.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12064" y="91440"/>
            <a:ext cx="6400800" cy="1737360"/>
          </a:xfrm>
          <a:prstGeom prst="rect">
            <a:avLst/>
          </a:prstGeom>
          <a:noFill/>
          <a:ln/>
        </p:spPr>
        <p:txBody>
          <a:bodyPr wrap="none" lIns="0" tIns="0" rIns="0" bIns="0" rtlCol="0" anchor="b"/>
          <a:lstStyle/>
          <a:p>
            <a:pPr marL="0" indent="0">
              <a:buNone/>
            </a:pPr>
            <a:r>
              <a:rPr lang="en-US" sz="6000" b="1" dirty="0">
                <a:solidFill>
                  <a:srgbClr val="37205D"/>
                </a:solidFill>
                <a:latin typeface="Bodoni MT" pitchFamily="34" charset="0"/>
                <a:ea typeface="Bodoni MT" pitchFamily="34" charset="-122"/>
                <a:cs typeface="Bodoni MT" pitchFamily="34" charset="-120"/>
              </a:rPr>
              <a:t>The pipeline</a:t>
            </a:r>
            <a:endParaRPr lang="en-US" sz="6000" dirty="0"/>
          </a:p>
        </p:txBody>
      </p:sp>
      <p:pic>
        <p:nvPicPr>
          <p:cNvPr id="3" name="Image 0" descr="C:\Users\Dell\.claude\skills\synced\eb4eaa5e-fe0b-45c9-9571-743d8da5acee_0850b5be-1ed7-4d2f-80b3-99313ab5efc0\avaali-brand-pptx\assets\brand\red_underline.png"/>
          <p:cNvPicPr>
            <a:picLocks noChangeAspect="1"/>
          </p:cNvPicPr>
          <p:nvPr/>
        </p:nvPicPr>
        <p:blipFill>
          <a:blip r:embed="rId3"/>
          <a:stretch>
            <a:fillRect/>
          </a:stretch>
        </p:blipFill>
        <p:spPr>
          <a:xfrm>
            <a:off x="530352" y="1847088"/>
            <a:ext cx="2423160" cy="73152"/>
          </a:xfrm>
          <a:prstGeom prst="rect">
            <a:avLst/>
          </a:prstGeom>
        </p:spPr>
      </p:pic>
      <p:sp>
        <p:nvSpPr>
          <p:cNvPr id="4" name="Shape 1"/>
          <p:cNvSpPr/>
          <p:nvPr/>
        </p:nvSpPr>
        <p:spPr>
          <a:xfrm>
            <a:off x="7232904" y="594360"/>
            <a:ext cx="0" cy="960120"/>
          </a:xfrm>
          <a:prstGeom prst="line">
            <a:avLst/>
          </a:prstGeom>
          <a:noFill/>
          <a:ln w="15875">
            <a:solidFill>
              <a:srgbClr val="929292"/>
            </a:solidFill>
            <a:prstDash val="solid"/>
          </a:ln>
        </p:spPr>
        <p:txBody>
          <a:bodyPr/>
          <a:lstStyle/>
          <a:p>
            <a:endParaRPr lang="en-IN"/>
          </a:p>
        </p:txBody>
      </p:sp>
      <p:sp>
        <p:nvSpPr>
          <p:cNvPr id="5" name="Text 2"/>
          <p:cNvSpPr txBox="1"/>
          <p:nvPr/>
        </p:nvSpPr>
        <p:spPr>
          <a:xfrm>
            <a:off x="7507224" y="411480"/>
            <a:ext cx="16511321" cy="1463040"/>
          </a:xfrm>
          <a:prstGeom prst="rect">
            <a:avLst/>
          </a:prstGeom>
          <a:noFill/>
          <a:ln/>
        </p:spPr>
        <p:txBody>
          <a:bodyPr wrap="square" lIns="0" tIns="0" rIns="0" bIns="0" rtlCol="0" anchor="ctr">
            <a:normAutofit/>
          </a:bodyPr>
          <a:lstStyle/>
          <a:p>
            <a:pPr marL="0" indent="0">
              <a:lnSpc>
                <a:spcPct val="115000"/>
              </a:lnSpc>
              <a:buNone/>
            </a:pPr>
            <a:r>
              <a:rPr lang="en-US" sz="2700" dirty="0">
                <a:solidFill>
                  <a:srgbClr val="262629"/>
                </a:solidFill>
                <a:latin typeface="Arial" pitchFamily="34" charset="0"/>
                <a:ea typeface="Arial" pitchFamily="34" charset="-122"/>
                <a:cs typeface="Arial" pitchFamily="34" charset="-120"/>
              </a:rPr>
              <a:t>From a scanned page to a cited answer - and where we customised each stage.</a:t>
            </a:r>
            <a:endParaRPr lang="en-US" sz="2700" dirty="0"/>
          </a:p>
        </p:txBody>
      </p:sp>
      <p:sp>
        <p:nvSpPr>
          <p:cNvPr id="6" name="Text 3"/>
          <p:cNvSpPr txBox="1"/>
          <p:nvPr/>
        </p:nvSpPr>
        <p:spPr>
          <a:xfrm>
            <a:off x="1289304" y="12755880"/>
            <a:ext cx="19019520" cy="822960"/>
          </a:xfrm>
          <a:prstGeom prst="rect">
            <a:avLst/>
          </a:prstGeom>
          <a:noFill/>
          <a:ln/>
        </p:spPr>
        <p:txBody>
          <a:bodyPr wrap="square" lIns="0" tIns="0" rIns="0" bIns="0" rtlCol="0" anchor="ctr">
            <a:normAutofit/>
          </a:bodyPr>
          <a:lstStyle/>
          <a:p>
            <a:pPr marL="0" indent="0" algn="ctr">
              <a:buNone/>
            </a:pPr>
            <a:r>
              <a:rPr lang="en-US" sz="2200" dirty="0">
                <a:solidFill>
                  <a:srgbClr val="FFFFFF"/>
                </a:solidFill>
                <a:latin typeface="Bodoni MT" pitchFamily="34" charset="0"/>
                <a:ea typeface="Bodoni MT" pitchFamily="34" charset="-122"/>
                <a:cs typeface="Bodoni MT" pitchFamily="34" charset="-120"/>
              </a:rPr>
              <a:t>Every stage tuned for Arabic - </a:t>
            </a:r>
            <a:r>
              <a:rPr lang="en-US" sz="2200" b="1" dirty="0">
                <a:solidFill>
                  <a:srgbClr val="FF0000"/>
                </a:solidFill>
                <a:latin typeface="Bodoni MT" pitchFamily="34" charset="0"/>
                <a:ea typeface="Bodoni MT" pitchFamily="34" charset="-122"/>
                <a:cs typeface="Bodoni MT" pitchFamily="34" charset="-120"/>
              </a:rPr>
              <a:t>not one</a:t>
            </a:r>
            <a:r>
              <a:rPr lang="en-US" sz="2200" dirty="0">
                <a:solidFill>
                  <a:srgbClr val="FFFFFF"/>
                </a:solidFill>
                <a:latin typeface="Bodoni MT" pitchFamily="34" charset="0"/>
                <a:ea typeface="Bodoni MT" pitchFamily="34" charset="-122"/>
                <a:cs typeface="Bodoni MT" pitchFamily="34" charset="-120"/>
              </a:rPr>
              <a:t> generic component left untouched</a:t>
            </a:r>
            <a:endParaRPr lang="en-US" sz="2200" dirty="0"/>
          </a:p>
        </p:txBody>
      </p:sp>
      <p:sp>
        <p:nvSpPr>
          <p:cNvPr id="8" name="Shape 4"/>
          <p:cNvSpPr/>
          <p:nvPr/>
        </p:nvSpPr>
        <p:spPr>
          <a:xfrm>
            <a:off x="1997964" y="2423160"/>
            <a:ext cx="1371600" cy="1371600"/>
          </a:xfrm>
          <a:prstGeom prst="ellipse">
            <a:avLst/>
          </a:prstGeom>
          <a:solidFill>
            <a:srgbClr val="E6DDF5"/>
          </a:solidFill>
          <a:ln w="12700">
            <a:solidFill>
              <a:srgbClr val="E6DDF5"/>
            </a:solidFill>
            <a:prstDash val="solid"/>
          </a:ln>
        </p:spPr>
        <p:txBody>
          <a:bodyPr/>
          <a:lstStyle/>
          <a:p>
            <a:endParaRPr lang="en-IN"/>
          </a:p>
        </p:txBody>
      </p:sp>
      <p:pic>
        <p:nvPicPr>
          <p:cNvPr id="9" name="Image 1" descr="preencoded.png"/>
          <p:cNvPicPr>
            <a:picLocks noChangeAspect="1"/>
          </p:cNvPicPr>
          <p:nvPr/>
        </p:nvPicPr>
        <p:blipFill>
          <a:blip r:embed="rId4"/>
          <a:stretch>
            <a:fillRect/>
          </a:stretch>
        </p:blipFill>
        <p:spPr>
          <a:xfrm>
            <a:off x="2327148" y="2752344"/>
            <a:ext cx="713232" cy="713232"/>
          </a:xfrm>
          <a:prstGeom prst="rect">
            <a:avLst/>
          </a:prstGeom>
        </p:spPr>
      </p:pic>
      <p:sp>
        <p:nvSpPr>
          <p:cNvPr id="10" name="Shape 5"/>
          <p:cNvSpPr/>
          <p:nvPr/>
        </p:nvSpPr>
        <p:spPr>
          <a:xfrm>
            <a:off x="512064" y="4343400"/>
            <a:ext cx="4343400" cy="3228188"/>
          </a:xfrm>
          <a:prstGeom prst="rect">
            <a:avLst/>
          </a:prstGeom>
          <a:solidFill>
            <a:srgbClr val="E6DDF5"/>
          </a:solidFill>
          <a:ln w="12700">
            <a:solidFill>
              <a:srgbClr val="E6DDF5"/>
            </a:solidFill>
            <a:prstDash val="solid"/>
          </a:ln>
        </p:spPr>
        <p:txBody>
          <a:bodyPr/>
          <a:lstStyle/>
          <a:p>
            <a:endParaRPr lang="en-IN"/>
          </a:p>
        </p:txBody>
      </p:sp>
      <p:sp>
        <p:nvSpPr>
          <p:cNvPr id="11" name="Text 6"/>
          <p:cNvSpPr txBox="1"/>
          <p:nvPr/>
        </p:nvSpPr>
        <p:spPr>
          <a:xfrm>
            <a:off x="832104" y="4617720"/>
            <a:ext cx="3703320" cy="2679548"/>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2700" b="1" dirty="0">
                <a:solidFill>
                  <a:srgbClr val="2F1757"/>
                </a:solidFill>
                <a:latin typeface="Arial" pitchFamily="34" charset="0"/>
                <a:ea typeface="Arial" pitchFamily="34" charset="-122"/>
                <a:cs typeface="Arial" pitchFamily="34" charset="-120"/>
              </a:rPr>
              <a:t>1. Read</a:t>
            </a:r>
            <a:endParaRPr lang="en-US" sz="2700" dirty="0"/>
          </a:p>
          <a:p>
            <a:pPr marL="0" indent="0" algn="l">
              <a:lnSpc>
                <a:spcPct val="120000"/>
              </a:lnSpc>
              <a:buNone/>
            </a:pPr>
            <a:r>
              <a:rPr lang="en-US" sz="2000" dirty="0">
                <a:solidFill>
                  <a:srgbClr val="262629"/>
                </a:solidFill>
                <a:latin typeface="Arial" pitchFamily="34" charset="0"/>
                <a:ea typeface="Arial" pitchFamily="34" charset="-122"/>
                <a:cs typeface="Arial" pitchFamily="34" charset="-120"/>
              </a:rPr>
              <a:t>Pages are read inside the browser and sent in small batches. Nothing is uploaded as one large file, and an interrupted upload resumes where it stopped.</a:t>
            </a:r>
            <a:endParaRPr lang="en-US" sz="2700" dirty="0"/>
          </a:p>
        </p:txBody>
      </p:sp>
      <p:sp>
        <p:nvSpPr>
          <p:cNvPr id="12" name="Shape 7"/>
          <p:cNvSpPr/>
          <p:nvPr/>
        </p:nvSpPr>
        <p:spPr>
          <a:xfrm>
            <a:off x="6752844" y="2423160"/>
            <a:ext cx="1371600" cy="1371600"/>
          </a:xfrm>
          <a:prstGeom prst="ellipse">
            <a:avLst/>
          </a:prstGeom>
          <a:solidFill>
            <a:srgbClr val="FCEDD7"/>
          </a:solidFill>
          <a:ln w="12700">
            <a:solidFill>
              <a:srgbClr val="FCEDD7"/>
            </a:solidFill>
            <a:prstDash val="solid"/>
          </a:ln>
        </p:spPr>
        <p:txBody>
          <a:bodyPr/>
          <a:lstStyle/>
          <a:p>
            <a:endParaRPr lang="en-IN"/>
          </a:p>
        </p:txBody>
      </p:sp>
      <p:pic>
        <p:nvPicPr>
          <p:cNvPr id="13" name="Image 2" descr="preencoded.png"/>
          <p:cNvPicPr>
            <a:picLocks noChangeAspect="1"/>
          </p:cNvPicPr>
          <p:nvPr/>
        </p:nvPicPr>
        <p:blipFill>
          <a:blip r:embed="rId5"/>
          <a:stretch>
            <a:fillRect/>
          </a:stretch>
        </p:blipFill>
        <p:spPr>
          <a:xfrm>
            <a:off x="7082028" y="2752344"/>
            <a:ext cx="713232" cy="713232"/>
          </a:xfrm>
          <a:prstGeom prst="rect">
            <a:avLst/>
          </a:prstGeom>
        </p:spPr>
      </p:pic>
      <p:sp>
        <p:nvSpPr>
          <p:cNvPr id="14" name="Shape 8"/>
          <p:cNvSpPr/>
          <p:nvPr/>
        </p:nvSpPr>
        <p:spPr>
          <a:xfrm>
            <a:off x="5266944" y="4343400"/>
            <a:ext cx="4343400" cy="3228188"/>
          </a:xfrm>
          <a:prstGeom prst="rect">
            <a:avLst/>
          </a:prstGeom>
          <a:solidFill>
            <a:srgbClr val="FCEDD7"/>
          </a:solidFill>
          <a:ln w="12700">
            <a:solidFill>
              <a:srgbClr val="FCEDD7"/>
            </a:solidFill>
            <a:prstDash val="solid"/>
          </a:ln>
        </p:spPr>
        <p:txBody>
          <a:bodyPr/>
          <a:lstStyle/>
          <a:p>
            <a:endParaRPr lang="en-IN"/>
          </a:p>
        </p:txBody>
      </p:sp>
      <p:sp>
        <p:nvSpPr>
          <p:cNvPr id="15" name="Text 9"/>
          <p:cNvSpPr txBox="1"/>
          <p:nvPr/>
        </p:nvSpPr>
        <p:spPr>
          <a:xfrm>
            <a:off x="5586984" y="4617720"/>
            <a:ext cx="3703320" cy="2679548"/>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2700" b="1" dirty="0">
                <a:solidFill>
                  <a:srgbClr val="2F1757"/>
                </a:solidFill>
                <a:latin typeface="Arial" pitchFamily="34" charset="0"/>
                <a:ea typeface="Arial" pitchFamily="34" charset="-122"/>
                <a:cs typeface="Arial" pitchFamily="34" charset="-120"/>
              </a:rPr>
              <a:t>2. See</a:t>
            </a:r>
            <a:endParaRPr lang="en-US" sz="2700" dirty="0"/>
          </a:p>
          <a:p>
            <a:pPr marL="0" indent="0" algn="l">
              <a:lnSpc>
                <a:spcPct val="120000"/>
              </a:lnSpc>
              <a:buNone/>
            </a:pPr>
            <a:r>
              <a:rPr lang="en-US" sz="2000" dirty="0">
                <a:solidFill>
                  <a:srgbClr val="262629"/>
                </a:solidFill>
                <a:latin typeface="Arial" pitchFamily="34" charset="0"/>
                <a:ea typeface="Arial" pitchFamily="34" charset="-122"/>
                <a:cs typeface="Arial" pitchFamily="34" charset="-120"/>
              </a:rPr>
              <a:t>Scanned pages go to Google Gemini OCR - both language columns, tables kept as tables, handwriting included.</a:t>
            </a:r>
            <a:endParaRPr lang="en-US" sz="2700" dirty="0"/>
          </a:p>
        </p:txBody>
      </p:sp>
      <p:sp>
        <p:nvSpPr>
          <p:cNvPr id="16" name="Shape 10"/>
          <p:cNvSpPr/>
          <p:nvPr/>
        </p:nvSpPr>
        <p:spPr>
          <a:xfrm>
            <a:off x="11507724" y="2423160"/>
            <a:ext cx="1371600" cy="1371600"/>
          </a:xfrm>
          <a:prstGeom prst="ellipse">
            <a:avLst/>
          </a:prstGeom>
          <a:solidFill>
            <a:srgbClr val="F9DCD9"/>
          </a:solidFill>
          <a:ln w="12700">
            <a:solidFill>
              <a:srgbClr val="F9DCD9"/>
            </a:solidFill>
            <a:prstDash val="solid"/>
          </a:ln>
        </p:spPr>
        <p:txBody>
          <a:bodyPr/>
          <a:lstStyle/>
          <a:p>
            <a:endParaRPr lang="en-IN"/>
          </a:p>
        </p:txBody>
      </p:sp>
      <p:pic>
        <p:nvPicPr>
          <p:cNvPr id="17" name="Image 3" descr="preencoded.png"/>
          <p:cNvPicPr>
            <a:picLocks noChangeAspect="1"/>
          </p:cNvPicPr>
          <p:nvPr/>
        </p:nvPicPr>
        <p:blipFill>
          <a:blip r:embed="rId6"/>
          <a:stretch>
            <a:fillRect/>
          </a:stretch>
        </p:blipFill>
        <p:spPr>
          <a:xfrm>
            <a:off x="11836908" y="2752344"/>
            <a:ext cx="713232" cy="713232"/>
          </a:xfrm>
          <a:prstGeom prst="rect">
            <a:avLst/>
          </a:prstGeom>
        </p:spPr>
      </p:pic>
      <p:sp>
        <p:nvSpPr>
          <p:cNvPr id="18" name="Shape 11"/>
          <p:cNvSpPr/>
          <p:nvPr/>
        </p:nvSpPr>
        <p:spPr>
          <a:xfrm>
            <a:off x="10021824" y="4343400"/>
            <a:ext cx="4343400" cy="3228188"/>
          </a:xfrm>
          <a:prstGeom prst="rect">
            <a:avLst/>
          </a:prstGeom>
          <a:solidFill>
            <a:srgbClr val="F9DCD9"/>
          </a:solidFill>
          <a:ln w="12700">
            <a:solidFill>
              <a:srgbClr val="F9DCD9"/>
            </a:solidFill>
            <a:prstDash val="solid"/>
          </a:ln>
        </p:spPr>
        <p:txBody>
          <a:bodyPr/>
          <a:lstStyle/>
          <a:p>
            <a:endParaRPr lang="en-IN"/>
          </a:p>
        </p:txBody>
      </p:sp>
      <p:sp>
        <p:nvSpPr>
          <p:cNvPr id="19" name="Text 12"/>
          <p:cNvSpPr txBox="1"/>
          <p:nvPr/>
        </p:nvSpPr>
        <p:spPr>
          <a:xfrm>
            <a:off x="10341864" y="4617720"/>
            <a:ext cx="3703320" cy="2679548"/>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2700" b="1" dirty="0">
                <a:solidFill>
                  <a:srgbClr val="2F1757"/>
                </a:solidFill>
                <a:latin typeface="Arial" pitchFamily="34" charset="0"/>
                <a:ea typeface="Arial" pitchFamily="34" charset="-122"/>
                <a:cs typeface="Arial" pitchFamily="34" charset="-120"/>
              </a:rPr>
              <a:t>3. Organise</a:t>
            </a:r>
            <a:endParaRPr lang="en-US" sz="2700" dirty="0"/>
          </a:p>
          <a:p>
            <a:pPr marL="0" indent="0" algn="l">
              <a:lnSpc>
                <a:spcPct val="120000"/>
              </a:lnSpc>
              <a:buNone/>
            </a:pPr>
            <a:r>
              <a:rPr lang="en-US" sz="2000" dirty="0">
                <a:solidFill>
                  <a:srgbClr val="262629"/>
                </a:solidFill>
                <a:latin typeface="Arial" pitchFamily="34" charset="0"/>
                <a:ea typeface="Arial" pitchFamily="34" charset="-122"/>
                <a:cs typeface="Arial" pitchFamily="34" charset="-120"/>
              </a:rPr>
              <a:t>Text is split by page and by article, so a citation points at a real page. A table is never cut from its heading row.</a:t>
            </a:r>
            <a:endParaRPr lang="en-US" sz="2700" dirty="0"/>
          </a:p>
        </p:txBody>
      </p:sp>
      <p:sp>
        <p:nvSpPr>
          <p:cNvPr id="20" name="Shape 13"/>
          <p:cNvSpPr/>
          <p:nvPr/>
        </p:nvSpPr>
        <p:spPr>
          <a:xfrm>
            <a:off x="16262604" y="2423160"/>
            <a:ext cx="1371600" cy="1371600"/>
          </a:xfrm>
          <a:prstGeom prst="ellipse">
            <a:avLst/>
          </a:prstGeom>
          <a:solidFill>
            <a:srgbClr val="F2F2F5"/>
          </a:solidFill>
          <a:ln w="12700">
            <a:solidFill>
              <a:srgbClr val="F2F2F5"/>
            </a:solidFill>
            <a:prstDash val="solid"/>
          </a:ln>
        </p:spPr>
        <p:txBody>
          <a:bodyPr/>
          <a:lstStyle/>
          <a:p>
            <a:endParaRPr lang="en-IN"/>
          </a:p>
        </p:txBody>
      </p:sp>
      <p:pic>
        <p:nvPicPr>
          <p:cNvPr id="21" name="Image 4" descr="preencoded.png"/>
          <p:cNvPicPr>
            <a:picLocks noChangeAspect="1"/>
          </p:cNvPicPr>
          <p:nvPr/>
        </p:nvPicPr>
        <p:blipFill>
          <a:blip r:embed="rId7"/>
          <a:stretch>
            <a:fillRect/>
          </a:stretch>
        </p:blipFill>
        <p:spPr>
          <a:xfrm>
            <a:off x="16591788" y="2752344"/>
            <a:ext cx="713232" cy="713232"/>
          </a:xfrm>
          <a:prstGeom prst="rect">
            <a:avLst/>
          </a:prstGeom>
        </p:spPr>
      </p:pic>
      <p:sp>
        <p:nvSpPr>
          <p:cNvPr id="22" name="Shape 14"/>
          <p:cNvSpPr/>
          <p:nvPr/>
        </p:nvSpPr>
        <p:spPr>
          <a:xfrm>
            <a:off x="14776704" y="4343400"/>
            <a:ext cx="4343400" cy="3228188"/>
          </a:xfrm>
          <a:prstGeom prst="rect">
            <a:avLst/>
          </a:prstGeom>
          <a:solidFill>
            <a:srgbClr val="F2F2F5"/>
          </a:solidFill>
          <a:ln w="12700">
            <a:solidFill>
              <a:srgbClr val="F2F2F5"/>
            </a:solidFill>
            <a:prstDash val="solid"/>
          </a:ln>
        </p:spPr>
        <p:txBody>
          <a:bodyPr/>
          <a:lstStyle/>
          <a:p>
            <a:endParaRPr lang="en-IN"/>
          </a:p>
        </p:txBody>
      </p:sp>
      <p:sp>
        <p:nvSpPr>
          <p:cNvPr id="23" name="Text 15"/>
          <p:cNvSpPr txBox="1"/>
          <p:nvPr/>
        </p:nvSpPr>
        <p:spPr>
          <a:xfrm>
            <a:off x="15096744" y="4617720"/>
            <a:ext cx="3703320" cy="2679548"/>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2700" b="1" dirty="0">
                <a:solidFill>
                  <a:srgbClr val="2F1757"/>
                </a:solidFill>
                <a:latin typeface="Arial" pitchFamily="34" charset="0"/>
                <a:ea typeface="Arial" pitchFamily="34" charset="-122"/>
                <a:cs typeface="Arial" pitchFamily="34" charset="-120"/>
              </a:rPr>
              <a:t>4. Find</a:t>
            </a:r>
            <a:endParaRPr lang="en-US" sz="2700" dirty="0"/>
          </a:p>
          <a:p>
            <a:pPr marL="0" indent="0" algn="l">
              <a:lnSpc>
                <a:spcPct val="120000"/>
              </a:lnSpc>
              <a:buNone/>
            </a:pPr>
            <a:r>
              <a:rPr lang="en-US" sz="2000" dirty="0">
                <a:solidFill>
                  <a:srgbClr val="262629"/>
                </a:solidFill>
                <a:latin typeface="Arial" pitchFamily="34" charset="0"/>
                <a:ea typeface="Arial" pitchFamily="34" charset="-122"/>
                <a:cs typeface="Arial" pitchFamily="34" charset="-120"/>
              </a:rPr>
              <a:t>Two searches run at once - keyword and meaning. Their results are merged, then re-ranked by a world-class reranker.</a:t>
            </a:r>
            <a:endParaRPr lang="en-US" sz="2700" dirty="0"/>
          </a:p>
        </p:txBody>
      </p:sp>
      <p:sp>
        <p:nvSpPr>
          <p:cNvPr id="24" name="Shape 16"/>
          <p:cNvSpPr/>
          <p:nvPr/>
        </p:nvSpPr>
        <p:spPr>
          <a:xfrm>
            <a:off x="21017484" y="2423160"/>
            <a:ext cx="1371600" cy="1371600"/>
          </a:xfrm>
          <a:prstGeom prst="ellipse">
            <a:avLst/>
          </a:prstGeom>
          <a:solidFill>
            <a:srgbClr val="C7D2C0"/>
          </a:solidFill>
          <a:ln w="12700">
            <a:solidFill>
              <a:srgbClr val="C7D2C0"/>
            </a:solidFill>
            <a:prstDash val="solid"/>
          </a:ln>
        </p:spPr>
        <p:txBody>
          <a:bodyPr/>
          <a:lstStyle/>
          <a:p>
            <a:endParaRPr lang="en-IN"/>
          </a:p>
        </p:txBody>
      </p:sp>
      <p:pic>
        <p:nvPicPr>
          <p:cNvPr id="25" name="Image 5" descr="preencoded.png"/>
          <p:cNvPicPr>
            <a:picLocks noChangeAspect="1"/>
          </p:cNvPicPr>
          <p:nvPr/>
        </p:nvPicPr>
        <p:blipFill>
          <a:blip r:embed="rId8"/>
          <a:stretch>
            <a:fillRect/>
          </a:stretch>
        </p:blipFill>
        <p:spPr>
          <a:xfrm>
            <a:off x="21346668" y="2752344"/>
            <a:ext cx="713232" cy="713232"/>
          </a:xfrm>
          <a:prstGeom prst="rect">
            <a:avLst/>
          </a:prstGeom>
        </p:spPr>
      </p:pic>
      <p:sp>
        <p:nvSpPr>
          <p:cNvPr id="26" name="Shape 17"/>
          <p:cNvSpPr/>
          <p:nvPr/>
        </p:nvSpPr>
        <p:spPr>
          <a:xfrm>
            <a:off x="19531584" y="4343400"/>
            <a:ext cx="4343400" cy="3228188"/>
          </a:xfrm>
          <a:prstGeom prst="rect">
            <a:avLst/>
          </a:prstGeom>
          <a:solidFill>
            <a:srgbClr val="C7D2C0"/>
          </a:solidFill>
          <a:ln w="12700">
            <a:solidFill>
              <a:srgbClr val="C7D2C0"/>
            </a:solidFill>
            <a:prstDash val="solid"/>
          </a:ln>
        </p:spPr>
        <p:txBody>
          <a:bodyPr/>
          <a:lstStyle/>
          <a:p>
            <a:endParaRPr lang="en-IN"/>
          </a:p>
        </p:txBody>
      </p:sp>
      <p:sp>
        <p:nvSpPr>
          <p:cNvPr id="27" name="Text 18"/>
          <p:cNvSpPr txBox="1"/>
          <p:nvPr/>
        </p:nvSpPr>
        <p:spPr>
          <a:xfrm>
            <a:off x="19851624" y="4617720"/>
            <a:ext cx="3703320" cy="2679548"/>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2700" b="1" dirty="0">
                <a:solidFill>
                  <a:srgbClr val="2F1757"/>
                </a:solidFill>
                <a:latin typeface="Arial" pitchFamily="34" charset="0"/>
                <a:ea typeface="Arial" pitchFamily="34" charset="-122"/>
                <a:cs typeface="Arial" pitchFamily="34" charset="-120"/>
              </a:rPr>
              <a:t>5. Answer</a:t>
            </a:r>
            <a:endParaRPr lang="en-US" sz="2700" dirty="0"/>
          </a:p>
          <a:p>
            <a:pPr marL="0" indent="0" algn="l">
              <a:lnSpc>
                <a:spcPct val="120000"/>
              </a:lnSpc>
              <a:buNone/>
            </a:pPr>
            <a:r>
              <a:rPr lang="en-US" sz="2000" dirty="0">
                <a:solidFill>
                  <a:srgbClr val="262629"/>
                </a:solidFill>
                <a:latin typeface="Arial" pitchFamily="34" charset="0"/>
                <a:ea typeface="Arial" pitchFamily="34" charset="-122"/>
                <a:cs typeface="Arial" pitchFamily="34" charset="-120"/>
              </a:rPr>
              <a:t>Fanar answers in the language of the question, using only those sources. Every date and number is then checked.</a:t>
            </a:r>
            <a:endParaRPr lang="en-US" sz="2700" dirty="0"/>
          </a:p>
        </p:txBody>
      </p:sp>
      <p:sp>
        <p:nvSpPr>
          <p:cNvPr id="7" name="Slide Number Placeholder 0"/>
          <p:cNvSpPr>
            <a:spLocks noGrp="1"/>
          </p:cNvSpPr>
          <p:nvPr>
            <p:ph type="sldNum" sz="quarter" idx="4294967295"/>
          </p:nvPr>
        </p:nvSpPr>
        <p:spPr>
          <a:xfrm>
            <a:off x="20208240" y="12911328"/>
            <a:ext cx="82296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DDF5"/>
                </a:solidFill>
                <a:latin typeface="Arial"/>
                <a:ea typeface="Arial"/>
                <a:cs typeface="Aria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12064" y="91440"/>
            <a:ext cx="6903720" cy="1737360"/>
          </a:xfrm>
          <a:prstGeom prst="rect">
            <a:avLst/>
          </a:prstGeom>
          <a:noFill/>
          <a:ln/>
        </p:spPr>
        <p:txBody>
          <a:bodyPr wrap="none" lIns="0" tIns="0" rIns="0" bIns="0" rtlCol="0" anchor="b"/>
          <a:lstStyle/>
          <a:p>
            <a:pPr marL="0" indent="0">
              <a:buNone/>
            </a:pPr>
            <a:r>
              <a:rPr lang="en-US" sz="6000" b="1" dirty="0">
                <a:solidFill>
                  <a:srgbClr val="37205D"/>
                </a:solidFill>
                <a:latin typeface="Bodoni MT" pitchFamily="34" charset="0"/>
                <a:ea typeface="Bodoni MT" pitchFamily="34" charset="-122"/>
                <a:cs typeface="Bodoni MT" pitchFamily="34" charset="-120"/>
              </a:rPr>
              <a:t>Our retriever</a:t>
            </a:r>
            <a:endParaRPr lang="en-US" sz="6000" dirty="0"/>
          </a:p>
        </p:txBody>
      </p:sp>
      <p:pic>
        <p:nvPicPr>
          <p:cNvPr id="3" name="Image 0" descr="C:\Users\Dell\.claude\skills\synced\eb4eaa5e-fe0b-45c9-9571-743d8da5acee_0850b5be-1ed7-4d2f-80b3-99313ab5efc0\avaali-brand-pptx\assets\brand\red_underline.png"/>
          <p:cNvPicPr>
            <a:picLocks noChangeAspect="1"/>
          </p:cNvPicPr>
          <p:nvPr/>
        </p:nvPicPr>
        <p:blipFill>
          <a:blip r:embed="rId3"/>
          <a:stretch>
            <a:fillRect/>
          </a:stretch>
        </p:blipFill>
        <p:spPr>
          <a:xfrm>
            <a:off x="530352" y="1847088"/>
            <a:ext cx="2423160" cy="73152"/>
          </a:xfrm>
          <a:prstGeom prst="rect">
            <a:avLst/>
          </a:prstGeom>
        </p:spPr>
      </p:pic>
      <p:sp>
        <p:nvSpPr>
          <p:cNvPr id="4" name="Shape 1"/>
          <p:cNvSpPr/>
          <p:nvPr/>
        </p:nvSpPr>
        <p:spPr>
          <a:xfrm>
            <a:off x="7735824" y="594360"/>
            <a:ext cx="0" cy="960120"/>
          </a:xfrm>
          <a:prstGeom prst="line">
            <a:avLst/>
          </a:prstGeom>
          <a:noFill/>
          <a:ln w="15875">
            <a:solidFill>
              <a:srgbClr val="929292"/>
            </a:solidFill>
            <a:prstDash val="solid"/>
          </a:ln>
        </p:spPr>
        <p:txBody>
          <a:bodyPr/>
          <a:lstStyle/>
          <a:p>
            <a:endParaRPr lang="en-IN"/>
          </a:p>
        </p:txBody>
      </p:sp>
      <p:sp>
        <p:nvSpPr>
          <p:cNvPr id="5" name="Text 2"/>
          <p:cNvSpPr txBox="1"/>
          <p:nvPr/>
        </p:nvSpPr>
        <p:spPr>
          <a:xfrm>
            <a:off x="8010144" y="411480"/>
            <a:ext cx="16008401" cy="1463040"/>
          </a:xfrm>
          <a:prstGeom prst="rect">
            <a:avLst/>
          </a:prstGeom>
          <a:noFill/>
          <a:ln/>
        </p:spPr>
        <p:txBody>
          <a:bodyPr wrap="square" lIns="0" tIns="0" rIns="0" bIns="0" rtlCol="0" anchor="ctr">
            <a:normAutofit/>
          </a:bodyPr>
          <a:lstStyle/>
          <a:p>
            <a:pPr marL="0" indent="0">
              <a:lnSpc>
                <a:spcPct val="115000"/>
              </a:lnSpc>
              <a:buNone/>
            </a:pPr>
            <a:r>
              <a:rPr lang="en-US" sz="2700" dirty="0">
                <a:solidFill>
                  <a:srgbClr val="262629"/>
                </a:solidFill>
                <a:latin typeface="Arial" pitchFamily="34" charset="0"/>
                <a:ea typeface="Arial" pitchFamily="34" charset="-122"/>
                <a:cs typeface="Arial" pitchFamily="34" charset="-120"/>
              </a:rPr>
              <a:t>Not one search. Two searches, fused by rank, then re-ranked - a design we configured for Arabic contracts.</a:t>
            </a:r>
            <a:endParaRPr lang="en-US" sz="2700" dirty="0"/>
          </a:p>
        </p:txBody>
      </p:sp>
      <p:sp>
        <p:nvSpPr>
          <p:cNvPr id="6" name="Text 3"/>
          <p:cNvSpPr txBox="1"/>
          <p:nvPr/>
        </p:nvSpPr>
        <p:spPr>
          <a:xfrm>
            <a:off x="1289304" y="12755880"/>
            <a:ext cx="19019520" cy="822960"/>
          </a:xfrm>
          <a:prstGeom prst="rect">
            <a:avLst/>
          </a:prstGeom>
          <a:noFill/>
          <a:ln/>
        </p:spPr>
        <p:txBody>
          <a:bodyPr wrap="square" lIns="0" tIns="0" rIns="0" bIns="0" rtlCol="0" anchor="ctr">
            <a:normAutofit/>
          </a:bodyPr>
          <a:lstStyle/>
          <a:p>
            <a:pPr marL="0" indent="0" algn="ctr">
              <a:buNone/>
            </a:pPr>
            <a:r>
              <a:rPr lang="en-US" sz="2200" dirty="0">
                <a:solidFill>
                  <a:srgbClr val="FFFFFF"/>
                </a:solidFill>
                <a:latin typeface="Bodoni MT" pitchFamily="34" charset="0"/>
                <a:ea typeface="Bodoni MT" pitchFamily="34" charset="-122"/>
                <a:cs typeface="Bodoni MT" pitchFamily="34" charset="-120"/>
              </a:rPr>
              <a:t>Keyword </a:t>
            </a:r>
            <a:r>
              <a:rPr lang="en-US" sz="2200" b="1" dirty="0">
                <a:solidFill>
                  <a:srgbClr val="FF0000"/>
                </a:solidFill>
                <a:latin typeface="Bodoni MT" pitchFamily="34" charset="0"/>
                <a:ea typeface="Bodoni MT" pitchFamily="34" charset="-122"/>
                <a:cs typeface="Bodoni MT" pitchFamily="34" charset="-120"/>
              </a:rPr>
              <a:t>+</a:t>
            </a:r>
            <a:r>
              <a:rPr lang="en-US" sz="2200" dirty="0">
                <a:solidFill>
                  <a:srgbClr val="FFFFFF"/>
                </a:solidFill>
                <a:latin typeface="Bodoni MT" pitchFamily="34" charset="0"/>
                <a:ea typeface="Bodoni MT" pitchFamily="34" charset="-122"/>
                <a:cs typeface="Bodoni MT" pitchFamily="34" charset="-120"/>
              </a:rPr>
              <a:t> meaning </a:t>
            </a:r>
            <a:r>
              <a:rPr lang="en-US" sz="2200" b="1" dirty="0">
                <a:solidFill>
                  <a:srgbClr val="FF0000"/>
                </a:solidFill>
                <a:latin typeface="Bodoni MT" pitchFamily="34" charset="0"/>
                <a:ea typeface="Bodoni MT" pitchFamily="34" charset="-122"/>
                <a:cs typeface="Bodoni MT" pitchFamily="34" charset="-120"/>
              </a:rPr>
              <a:t>+</a:t>
            </a:r>
            <a:r>
              <a:rPr lang="en-US" sz="2200" dirty="0">
                <a:solidFill>
                  <a:srgbClr val="FFFFFF"/>
                </a:solidFill>
                <a:latin typeface="Bodoni MT" pitchFamily="34" charset="0"/>
                <a:ea typeface="Bodoni MT" pitchFamily="34" charset="-122"/>
                <a:cs typeface="Bodoni MT" pitchFamily="34" charset="-120"/>
              </a:rPr>
              <a:t> rerank - each one catches what the others miss</a:t>
            </a:r>
            <a:endParaRPr lang="en-US" sz="2200" dirty="0"/>
          </a:p>
        </p:txBody>
      </p:sp>
      <p:sp>
        <p:nvSpPr>
          <p:cNvPr id="8" name="Shape 4"/>
          <p:cNvSpPr/>
          <p:nvPr/>
        </p:nvSpPr>
        <p:spPr>
          <a:xfrm>
            <a:off x="512064" y="2423160"/>
            <a:ext cx="11475720" cy="3000411"/>
          </a:xfrm>
          <a:prstGeom prst="rect">
            <a:avLst/>
          </a:prstGeom>
          <a:solidFill>
            <a:srgbClr val="E6DDF5"/>
          </a:solidFill>
          <a:ln w="12700">
            <a:solidFill>
              <a:srgbClr val="E6DDF5"/>
            </a:solidFill>
            <a:prstDash val="solid"/>
          </a:ln>
        </p:spPr>
        <p:txBody>
          <a:bodyPr/>
          <a:lstStyle/>
          <a:p>
            <a:endParaRPr lang="en-IN"/>
          </a:p>
        </p:txBody>
      </p:sp>
      <p:sp>
        <p:nvSpPr>
          <p:cNvPr id="9" name="Text 5"/>
          <p:cNvSpPr txBox="1"/>
          <p:nvPr/>
        </p:nvSpPr>
        <p:spPr>
          <a:xfrm>
            <a:off x="832104" y="2697480"/>
            <a:ext cx="10835640" cy="2451771"/>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Keyword search  -  BM25</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Atlas Search, with the Arabic analyser and an English analyser on the same field</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Nails exact tokens: CR 4030262648, IBANs, "SSPET 250ml", "Article (3)"</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Article and annex headings carry extra weight</a:t>
            </a:r>
            <a:endParaRPr lang="en-US" sz="3000" dirty="0"/>
          </a:p>
        </p:txBody>
      </p:sp>
      <p:sp>
        <p:nvSpPr>
          <p:cNvPr id="10" name="Shape 6"/>
          <p:cNvSpPr/>
          <p:nvPr/>
        </p:nvSpPr>
        <p:spPr>
          <a:xfrm>
            <a:off x="12399264" y="2423160"/>
            <a:ext cx="11475720" cy="3000411"/>
          </a:xfrm>
          <a:prstGeom prst="rect">
            <a:avLst/>
          </a:prstGeom>
          <a:solidFill>
            <a:srgbClr val="FCEDD7"/>
          </a:solidFill>
          <a:ln w="12700">
            <a:solidFill>
              <a:srgbClr val="FCEDD7"/>
            </a:solidFill>
            <a:prstDash val="solid"/>
          </a:ln>
        </p:spPr>
        <p:txBody>
          <a:bodyPr/>
          <a:lstStyle/>
          <a:p>
            <a:endParaRPr lang="en-IN"/>
          </a:p>
        </p:txBody>
      </p:sp>
      <p:sp>
        <p:nvSpPr>
          <p:cNvPr id="11" name="Text 7"/>
          <p:cNvSpPr txBox="1"/>
          <p:nvPr/>
        </p:nvSpPr>
        <p:spPr>
          <a:xfrm>
            <a:off x="12719304" y="2697480"/>
            <a:ext cx="10835640" cy="2451771"/>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Meaning search  -  Vectors</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BAAI/bge-m3 multilingual embeddings, one model only, 1,024 dimensions</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Matches across languages - an English question finds the Arabic clause</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Catches paraphrases that share no words with the question</a:t>
            </a:r>
            <a:endParaRPr lang="en-US" sz="3000" dirty="0"/>
          </a:p>
        </p:txBody>
      </p:sp>
      <p:sp>
        <p:nvSpPr>
          <p:cNvPr id="12" name="Shape 8"/>
          <p:cNvSpPr/>
          <p:nvPr/>
        </p:nvSpPr>
        <p:spPr>
          <a:xfrm>
            <a:off x="512064" y="5835051"/>
            <a:ext cx="23362920" cy="1976222"/>
          </a:xfrm>
          <a:prstGeom prst="rect">
            <a:avLst/>
          </a:prstGeom>
          <a:solidFill>
            <a:srgbClr val="F9DCD9"/>
          </a:solidFill>
          <a:ln w="12700">
            <a:solidFill>
              <a:srgbClr val="F9DCD9"/>
            </a:solidFill>
            <a:prstDash val="solid"/>
          </a:ln>
        </p:spPr>
        <p:txBody>
          <a:bodyPr/>
          <a:lstStyle/>
          <a:p>
            <a:endParaRPr lang="en-IN"/>
          </a:p>
        </p:txBody>
      </p:sp>
      <p:sp>
        <p:nvSpPr>
          <p:cNvPr id="13" name="Text 9"/>
          <p:cNvSpPr txBox="1"/>
          <p:nvPr/>
        </p:nvSpPr>
        <p:spPr>
          <a:xfrm>
            <a:off x="832104" y="6109371"/>
            <a:ext cx="22722840" cy="1427582"/>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Fused by Reciprocal Rank Fusion</a:t>
            </a:r>
            <a:endParaRPr lang="en-US" sz="3000" dirty="0"/>
          </a:p>
          <a:p>
            <a:pPr marL="0" indent="0" algn="l">
              <a:lnSpc>
                <a:spcPct val="120000"/>
              </a:lnSpc>
              <a:buNone/>
            </a:pPr>
            <a:r>
              <a:rPr lang="en-US" sz="2100" dirty="0">
                <a:solidFill>
                  <a:srgbClr val="262629"/>
                </a:solidFill>
                <a:latin typeface="Arial" pitchFamily="34" charset="0"/>
                <a:ea typeface="Arial" pitchFamily="34" charset="-122"/>
                <a:cs typeface="Arial" pitchFamily="34" charset="-120"/>
              </a:rPr>
              <a:t>The two lists are merged by position, not by score, so two very different scoring scales never need tuning. A passage found by both searches rises to the top. 40 candidates per search in - the best 30 out.</a:t>
            </a:r>
            <a:endParaRPr lang="en-US" sz="3000" dirty="0"/>
          </a:p>
        </p:txBody>
      </p:sp>
      <p:sp>
        <p:nvSpPr>
          <p:cNvPr id="14" name="Shape 10"/>
          <p:cNvSpPr/>
          <p:nvPr/>
        </p:nvSpPr>
        <p:spPr>
          <a:xfrm>
            <a:off x="512064" y="8222752"/>
            <a:ext cx="23362920" cy="1976222"/>
          </a:xfrm>
          <a:prstGeom prst="rect">
            <a:avLst/>
          </a:prstGeom>
          <a:solidFill>
            <a:srgbClr val="F2F2F5"/>
          </a:solidFill>
          <a:ln w="12700">
            <a:solidFill>
              <a:srgbClr val="F2F2F5"/>
            </a:solidFill>
            <a:prstDash val="solid"/>
          </a:ln>
        </p:spPr>
        <p:txBody>
          <a:bodyPr/>
          <a:lstStyle/>
          <a:p>
            <a:endParaRPr lang="en-IN"/>
          </a:p>
        </p:txBody>
      </p:sp>
      <p:sp>
        <p:nvSpPr>
          <p:cNvPr id="15" name="Text 11"/>
          <p:cNvSpPr txBox="1"/>
          <p:nvPr/>
        </p:nvSpPr>
        <p:spPr>
          <a:xfrm>
            <a:off x="832104" y="8497072"/>
            <a:ext cx="22722840" cy="1427582"/>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Re-ranked by Jina v3.5, then the best 8 go to the model</a:t>
            </a:r>
            <a:endParaRPr lang="en-US" sz="3000" dirty="0"/>
          </a:p>
          <a:p>
            <a:pPr marL="0" indent="0" algn="l">
              <a:lnSpc>
                <a:spcPct val="120000"/>
              </a:lnSpc>
              <a:buNone/>
            </a:pPr>
            <a:r>
              <a:rPr lang="en-US" sz="2100" dirty="0">
                <a:solidFill>
                  <a:srgbClr val="262629"/>
                </a:solidFill>
                <a:latin typeface="Arial" pitchFamily="34" charset="0"/>
                <a:ea typeface="Arial" pitchFamily="34" charset="-122"/>
                <a:cs typeface="Arial" pitchFamily="34" charset="-120"/>
              </a:rPr>
              <a:t>The reranker reads the question and each passage together and scores how well that passage actually answers it - far more accurate than word overlap. Multilingual, Arabic included. If it is ever slow or unavailable the fused order is used instead, so re-ranking can never make an answer worse.</a:t>
            </a:r>
            <a:endParaRPr lang="en-US" sz="3000" dirty="0"/>
          </a:p>
        </p:txBody>
      </p:sp>
      <p:sp>
        <p:nvSpPr>
          <p:cNvPr id="25" name="Slide Number Placeholder 0"/>
          <p:cNvSpPr>
            <a:spLocks noGrp="1"/>
          </p:cNvSpPr>
          <p:nvPr>
            <p:ph type="sldNum" sz="quarter" idx="4294967295"/>
          </p:nvPr>
        </p:nvSpPr>
        <p:spPr>
          <a:xfrm>
            <a:off x="20208240" y="12911328"/>
            <a:ext cx="82296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DDF5"/>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12064" y="91440"/>
            <a:ext cx="8412480" cy="1737360"/>
          </a:xfrm>
          <a:prstGeom prst="rect">
            <a:avLst/>
          </a:prstGeom>
          <a:noFill/>
          <a:ln/>
        </p:spPr>
        <p:txBody>
          <a:bodyPr wrap="none" lIns="0" tIns="0" rIns="0" bIns="0" rtlCol="0" anchor="b"/>
          <a:lstStyle/>
          <a:p>
            <a:pPr marL="0" indent="0">
              <a:buNone/>
            </a:pPr>
            <a:r>
              <a:rPr lang="en-US" sz="6000" b="1" dirty="0">
                <a:solidFill>
                  <a:srgbClr val="37205D"/>
                </a:solidFill>
                <a:latin typeface="Bodoni MT" pitchFamily="34" charset="0"/>
                <a:ea typeface="Bodoni MT" pitchFamily="34" charset="-122"/>
                <a:cs typeface="Bodoni MT" pitchFamily="34" charset="-120"/>
              </a:rPr>
              <a:t>Why it is custom</a:t>
            </a:r>
            <a:endParaRPr lang="en-US" sz="6000" dirty="0"/>
          </a:p>
        </p:txBody>
      </p:sp>
      <p:pic>
        <p:nvPicPr>
          <p:cNvPr id="3" name="Image 0" descr="C:\Users\Dell\.claude\skills\synced\eb4eaa5e-fe0b-45c9-9571-743d8da5acee_0850b5be-1ed7-4d2f-80b3-99313ab5efc0\avaali-brand-pptx\assets\brand\red_underline.png"/>
          <p:cNvPicPr>
            <a:picLocks noChangeAspect="1"/>
          </p:cNvPicPr>
          <p:nvPr/>
        </p:nvPicPr>
        <p:blipFill>
          <a:blip r:embed="rId3"/>
          <a:stretch>
            <a:fillRect/>
          </a:stretch>
        </p:blipFill>
        <p:spPr>
          <a:xfrm>
            <a:off x="530352" y="1847088"/>
            <a:ext cx="2423160" cy="73152"/>
          </a:xfrm>
          <a:prstGeom prst="rect">
            <a:avLst/>
          </a:prstGeom>
        </p:spPr>
      </p:pic>
      <p:sp>
        <p:nvSpPr>
          <p:cNvPr id="4" name="Shape 1"/>
          <p:cNvSpPr/>
          <p:nvPr/>
        </p:nvSpPr>
        <p:spPr>
          <a:xfrm>
            <a:off x="9244584" y="594360"/>
            <a:ext cx="0" cy="960120"/>
          </a:xfrm>
          <a:prstGeom prst="line">
            <a:avLst/>
          </a:prstGeom>
          <a:noFill/>
          <a:ln w="15875">
            <a:solidFill>
              <a:srgbClr val="929292"/>
            </a:solidFill>
            <a:prstDash val="solid"/>
          </a:ln>
        </p:spPr>
        <p:txBody>
          <a:bodyPr/>
          <a:lstStyle/>
          <a:p>
            <a:endParaRPr lang="en-IN"/>
          </a:p>
        </p:txBody>
      </p:sp>
      <p:sp>
        <p:nvSpPr>
          <p:cNvPr id="5" name="Text 2"/>
          <p:cNvSpPr txBox="1"/>
          <p:nvPr/>
        </p:nvSpPr>
        <p:spPr>
          <a:xfrm>
            <a:off x="9518904" y="411480"/>
            <a:ext cx="14499641" cy="1463040"/>
          </a:xfrm>
          <a:prstGeom prst="rect">
            <a:avLst/>
          </a:prstGeom>
          <a:noFill/>
          <a:ln/>
        </p:spPr>
        <p:txBody>
          <a:bodyPr wrap="square" lIns="0" tIns="0" rIns="0" bIns="0" rtlCol="0" anchor="ctr">
            <a:normAutofit/>
          </a:bodyPr>
          <a:lstStyle/>
          <a:p>
            <a:pPr marL="0" indent="0">
              <a:lnSpc>
                <a:spcPct val="115000"/>
              </a:lnSpc>
              <a:buNone/>
            </a:pPr>
            <a:r>
              <a:rPr lang="en-US" sz="2700" dirty="0">
                <a:solidFill>
                  <a:srgbClr val="262629"/>
                </a:solidFill>
                <a:latin typeface="Arial" pitchFamily="34" charset="0"/>
                <a:ea typeface="Arial" pitchFamily="34" charset="-122"/>
                <a:cs typeface="Arial" pitchFamily="34" charset="-120"/>
              </a:rPr>
              <a:t>Arabic breaks search engines in ways English never does. We fixed each one.</a:t>
            </a:r>
            <a:endParaRPr lang="en-US" sz="2700" dirty="0"/>
          </a:p>
        </p:txBody>
      </p:sp>
      <p:sp>
        <p:nvSpPr>
          <p:cNvPr id="6" name="Text 3"/>
          <p:cNvSpPr txBox="1"/>
          <p:nvPr/>
        </p:nvSpPr>
        <p:spPr>
          <a:xfrm>
            <a:off x="1289304" y="12755880"/>
            <a:ext cx="19019520" cy="822960"/>
          </a:xfrm>
          <a:prstGeom prst="rect">
            <a:avLst/>
          </a:prstGeom>
          <a:noFill/>
          <a:ln/>
        </p:spPr>
        <p:txBody>
          <a:bodyPr wrap="square" lIns="0" tIns="0" rIns="0" bIns="0" rtlCol="0" anchor="ctr">
            <a:normAutofit/>
          </a:bodyPr>
          <a:lstStyle/>
          <a:p>
            <a:pPr marL="0" indent="0" algn="ctr">
              <a:buNone/>
            </a:pPr>
            <a:r>
              <a:rPr lang="en-US" sz="2200" dirty="0">
                <a:solidFill>
                  <a:srgbClr val="FFFFFF"/>
                </a:solidFill>
                <a:latin typeface="Bodoni MT" pitchFamily="34" charset="0"/>
                <a:ea typeface="Bodoni MT" pitchFamily="34" charset="-122"/>
                <a:cs typeface="Bodoni MT" pitchFamily="34" charset="-120"/>
              </a:rPr>
              <a:t>The same word, spelled </a:t>
            </a:r>
            <a:r>
              <a:rPr lang="en-US" sz="2200" b="1" dirty="0">
                <a:solidFill>
                  <a:srgbClr val="FF0000"/>
                </a:solidFill>
                <a:latin typeface="Bodoni MT" pitchFamily="34" charset="0"/>
                <a:ea typeface="Bodoni MT" pitchFamily="34" charset="-122"/>
                <a:cs typeface="Bodoni MT" pitchFamily="34" charset="-120"/>
              </a:rPr>
              <a:t>six different ways</a:t>
            </a:r>
            <a:r>
              <a:rPr lang="en-US" sz="2200" dirty="0">
                <a:solidFill>
                  <a:srgbClr val="FFFFFF"/>
                </a:solidFill>
                <a:latin typeface="Bodoni MT" pitchFamily="34" charset="0"/>
                <a:ea typeface="Bodoni MT" pitchFamily="34" charset="-122"/>
                <a:cs typeface="Bodoni MT" pitchFamily="34" charset="-120"/>
              </a:rPr>
              <a:t>, still finds the same clause</a:t>
            </a:r>
            <a:endParaRPr lang="en-US" sz="2200" dirty="0"/>
          </a:p>
        </p:txBody>
      </p:sp>
      <p:sp>
        <p:nvSpPr>
          <p:cNvPr id="8" name="Shape 4"/>
          <p:cNvSpPr/>
          <p:nvPr/>
        </p:nvSpPr>
        <p:spPr>
          <a:xfrm>
            <a:off x="512064" y="2423160"/>
            <a:ext cx="11475720" cy="4725700"/>
          </a:xfrm>
          <a:prstGeom prst="rect">
            <a:avLst/>
          </a:prstGeom>
          <a:solidFill>
            <a:srgbClr val="E6DDF5"/>
          </a:solidFill>
          <a:ln w="12700">
            <a:solidFill>
              <a:srgbClr val="E6DDF5"/>
            </a:solidFill>
            <a:prstDash val="solid"/>
          </a:ln>
        </p:spPr>
        <p:txBody>
          <a:bodyPr/>
          <a:lstStyle/>
          <a:p>
            <a:endParaRPr lang="en-IN"/>
          </a:p>
        </p:txBody>
      </p:sp>
      <p:sp>
        <p:nvSpPr>
          <p:cNvPr id="9" name="Text 5"/>
          <p:cNvSpPr txBox="1"/>
          <p:nvPr/>
        </p:nvSpPr>
        <p:spPr>
          <a:xfrm>
            <a:off x="832104" y="2697480"/>
            <a:ext cx="10835640" cy="4177060"/>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What we unify before searching</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Alef has four written forms - we treat them as one letter</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Yeh, Teh Marbuta and the Urdu and Farsi letter shapes are unified too</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Diacritics and the tatweel stretching character are stripped out</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Arabic-Indic digits are read as 0-9, so the Arabic form of 1.09 matches "1.09"</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Scanned Arabic is often stored back-to-front - we repair it to reading order</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Every rule is applied to the stored text and to the question alike</a:t>
            </a:r>
            <a:endParaRPr lang="en-US" sz="3000" dirty="0"/>
          </a:p>
        </p:txBody>
      </p:sp>
      <p:sp>
        <p:nvSpPr>
          <p:cNvPr id="10" name="Shape 6"/>
          <p:cNvSpPr/>
          <p:nvPr/>
        </p:nvSpPr>
        <p:spPr>
          <a:xfrm>
            <a:off x="12399264" y="2423160"/>
            <a:ext cx="11475720" cy="4725700"/>
          </a:xfrm>
          <a:prstGeom prst="rect">
            <a:avLst/>
          </a:prstGeom>
          <a:solidFill>
            <a:srgbClr val="FCEDD7"/>
          </a:solidFill>
          <a:ln w="12700">
            <a:solidFill>
              <a:srgbClr val="FCEDD7"/>
            </a:solidFill>
            <a:prstDash val="solid"/>
          </a:ln>
        </p:spPr>
        <p:txBody>
          <a:bodyPr/>
          <a:lstStyle/>
          <a:p>
            <a:endParaRPr lang="en-IN"/>
          </a:p>
        </p:txBody>
      </p:sp>
      <p:sp>
        <p:nvSpPr>
          <p:cNvPr id="11" name="Text 7"/>
          <p:cNvSpPr txBox="1"/>
          <p:nvPr/>
        </p:nvSpPr>
        <p:spPr>
          <a:xfrm>
            <a:off x="12719304" y="2697480"/>
            <a:ext cx="10835640" cy="4177060"/>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And how we cut the text</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Split by page, so every citation points at a real page number</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Split by article - "Article (3)", "ANNEX" and their Arabic equivalents - and the heading travels with the text</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A price table is never separated from its header row</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Each piece carries its document and section name into the index</a:t>
            </a:r>
            <a:endParaRPr lang="en-US" sz="3000" dirty="0"/>
          </a:p>
        </p:txBody>
      </p:sp>
      <p:sp>
        <p:nvSpPr>
          <p:cNvPr id="25" name="Slide Number Placeholder 0"/>
          <p:cNvSpPr>
            <a:spLocks noGrp="1"/>
          </p:cNvSpPr>
          <p:nvPr>
            <p:ph type="sldNum" sz="quarter" idx="4294967295"/>
          </p:nvPr>
        </p:nvSpPr>
        <p:spPr>
          <a:xfrm>
            <a:off x="20208240" y="12911328"/>
            <a:ext cx="82296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DDF5"/>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12064" y="91440"/>
            <a:ext cx="8915400" cy="1737360"/>
          </a:xfrm>
          <a:prstGeom prst="rect">
            <a:avLst/>
          </a:prstGeom>
          <a:noFill/>
          <a:ln/>
        </p:spPr>
        <p:txBody>
          <a:bodyPr wrap="none" lIns="0" tIns="0" rIns="0" bIns="0" rtlCol="0" anchor="b"/>
          <a:lstStyle/>
          <a:p>
            <a:pPr marL="0" indent="0">
              <a:buNone/>
            </a:pPr>
            <a:r>
              <a:rPr lang="en-US" sz="6000" b="1" dirty="0">
                <a:solidFill>
                  <a:srgbClr val="37205D"/>
                </a:solidFill>
                <a:latin typeface="Bodoni MT" pitchFamily="34" charset="0"/>
                <a:ea typeface="Bodoni MT" pitchFamily="34" charset="-122"/>
                <a:cs typeface="Bodoni MT" pitchFamily="34" charset="-120"/>
              </a:rPr>
              <a:t>Confidence scores</a:t>
            </a:r>
            <a:endParaRPr lang="en-US" sz="6000" dirty="0"/>
          </a:p>
        </p:txBody>
      </p:sp>
      <p:pic>
        <p:nvPicPr>
          <p:cNvPr id="3" name="Image 0" descr="C:\Users\Dell\.claude\skills\synced\eb4eaa5e-fe0b-45c9-9571-743d8da5acee_0850b5be-1ed7-4d2f-80b3-99313ab5efc0\avaali-brand-pptx\assets\brand\red_underline.png"/>
          <p:cNvPicPr>
            <a:picLocks noChangeAspect="1"/>
          </p:cNvPicPr>
          <p:nvPr/>
        </p:nvPicPr>
        <p:blipFill>
          <a:blip r:embed="rId3"/>
          <a:stretch>
            <a:fillRect/>
          </a:stretch>
        </p:blipFill>
        <p:spPr>
          <a:xfrm>
            <a:off x="530352" y="1847088"/>
            <a:ext cx="2423160" cy="73152"/>
          </a:xfrm>
          <a:prstGeom prst="rect">
            <a:avLst/>
          </a:prstGeom>
        </p:spPr>
      </p:pic>
      <p:sp>
        <p:nvSpPr>
          <p:cNvPr id="4" name="Shape 1"/>
          <p:cNvSpPr/>
          <p:nvPr/>
        </p:nvSpPr>
        <p:spPr>
          <a:xfrm>
            <a:off x="9747504" y="594360"/>
            <a:ext cx="0" cy="960120"/>
          </a:xfrm>
          <a:prstGeom prst="line">
            <a:avLst/>
          </a:prstGeom>
          <a:noFill/>
          <a:ln w="15875">
            <a:solidFill>
              <a:srgbClr val="929292"/>
            </a:solidFill>
            <a:prstDash val="solid"/>
          </a:ln>
        </p:spPr>
        <p:txBody>
          <a:bodyPr/>
          <a:lstStyle/>
          <a:p>
            <a:endParaRPr lang="en-IN"/>
          </a:p>
        </p:txBody>
      </p:sp>
      <p:sp>
        <p:nvSpPr>
          <p:cNvPr id="5" name="Text 2"/>
          <p:cNvSpPr txBox="1"/>
          <p:nvPr/>
        </p:nvSpPr>
        <p:spPr>
          <a:xfrm>
            <a:off x="10021824" y="411480"/>
            <a:ext cx="13996721" cy="1463040"/>
          </a:xfrm>
          <a:prstGeom prst="rect">
            <a:avLst/>
          </a:prstGeom>
          <a:noFill/>
          <a:ln/>
        </p:spPr>
        <p:txBody>
          <a:bodyPr wrap="square" lIns="0" tIns="0" rIns="0" bIns="0" rtlCol="0" anchor="ctr">
            <a:normAutofit/>
          </a:bodyPr>
          <a:lstStyle/>
          <a:p>
            <a:pPr marL="0" indent="0">
              <a:lnSpc>
                <a:spcPct val="115000"/>
              </a:lnSpc>
              <a:buNone/>
            </a:pPr>
            <a:r>
              <a:rPr lang="en-US" sz="2700" dirty="0">
                <a:solidFill>
                  <a:srgbClr val="262629"/>
                </a:solidFill>
                <a:latin typeface="Arial" pitchFamily="34" charset="0"/>
                <a:ea typeface="Arial" pitchFamily="34" charset="-122"/>
                <a:cs typeface="Arial" pitchFamily="34" charset="-120"/>
              </a:rPr>
              <a:t>Two scores in two stages - a cheap one to shortlist, a precise one to decide.</a:t>
            </a:r>
            <a:endParaRPr lang="en-US" sz="2700" dirty="0"/>
          </a:p>
        </p:txBody>
      </p:sp>
      <p:sp>
        <p:nvSpPr>
          <p:cNvPr id="6" name="Text 3"/>
          <p:cNvSpPr txBox="1"/>
          <p:nvPr/>
        </p:nvSpPr>
        <p:spPr>
          <a:xfrm>
            <a:off x="1289304" y="12755880"/>
            <a:ext cx="19019520" cy="822960"/>
          </a:xfrm>
          <a:prstGeom prst="rect">
            <a:avLst/>
          </a:prstGeom>
          <a:noFill/>
          <a:ln/>
        </p:spPr>
        <p:txBody>
          <a:bodyPr wrap="square" lIns="0" tIns="0" rIns="0" bIns="0" rtlCol="0" anchor="ctr">
            <a:normAutofit/>
          </a:bodyPr>
          <a:lstStyle/>
          <a:p>
            <a:pPr marL="0" indent="0" algn="ctr">
              <a:buNone/>
            </a:pPr>
            <a:r>
              <a:rPr lang="en-US" sz="2200" dirty="0">
                <a:solidFill>
                  <a:srgbClr val="FFFFFF"/>
                </a:solidFill>
                <a:latin typeface="Bodoni MT" pitchFamily="34" charset="0"/>
                <a:ea typeface="Bodoni MT" pitchFamily="34" charset="-122"/>
                <a:cs typeface="Bodoni MT" pitchFamily="34" charset="-120"/>
              </a:rPr>
              <a:t>Shortlist by </a:t>
            </a:r>
            <a:r>
              <a:rPr lang="en-US" sz="2200" b="1" dirty="0">
                <a:solidFill>
                  <a:srgbClr val="FF0000"/>
                </a:solidFill>
                <a:latin typeface="Bodoni MT" pitchFamily="34" charset="0"/>
                <a:ea typeface="Bodoni MT" pitchFamily="34" charset="-122"/>
                <a:cs typeface="Bodoni MT" pitchFamily="34" charset="-120"/>
              </a:rPr>
              <a:t>rank</a:t>
            </a:r>
            <a:r>
              <a:rPr lang="en-US" sz="2200" dirty="0">
                <a:solidFill>
                  <a:srgbClr val="FFFFFF"/>
                </a:solidFill>
                <a:latin typeface="Bodoni MT" pitchFamily="34" charset="0"/>
                <a:ea typeface="Bodoni MT" pitchFamily="34" charset="-122"/>
                <a:cs typeface="Bodoni MT" pitchFamily="34" charset="-120"/>
              </a:rPr>
              <a:t>, decide by </a:t>
            </a:r>
            <a:r>
              <a:rPr lang="en-US" sz="2200" b="1" dirty="0">
                <a:solidFill>
                  <a:srgbClr val="FF0000"/>
                </a:solidFill>
                <a:latin typeface="Bodoni MT" pitchFamily="34" charset="0"/>
                <a:ea typeface="Bodoni MT" pitchFamily="34" charset="-122"/>
                <a:cs typeface="Bodoni MT" pitchFamily="34" charset="-120"/>
              </a:rPr>
              <a:t>relevance</a:t>
            </a:r>
            <a:r>
              <a:rPr lang="en-US" sz="2200" dirty="0">
                <a:solidFill>
                  <a:srgbClr val="FFFFFF"/>
                </a:solidFill>
                <a:latin typeface="Bodoni MT" pitchFamily="34" charset="0"/>
                <a:ea typeface="Bodoni MT" pitchFamily="34" charset="-122"/>
                <a:cs typeface="Bodoni MT" pitchFamily="34" charset="-120"/>
              </a:rPr>
              <a:t> - and both are visible</a:t>
            </a:r>
            <a:endParaRPr lang="en-US" sz="2200" dirty="0"/>
          </a:p>
        </p:txBody>
      </p:sp>
      <p:sp>
        <p:nvSpPr>
          <p:cNvPr id="8" name="Shape 4"/>
          <p:cNvSpPr/>
          <p:nvPr/>
        </p:nvSpPr>
        <p:spPr>
          <a:xfrm>
            <a:off x="512064" y="2423160"/>
            <a:ext cx="11475720" cy="3458657"/>
          </a:xfrm>
          <a:prstGeom prst="rect">
            <a:avLst/>
          </a:prstGeom>
          <a:solidFill>
            <a:srgbClr val="E6DDF5"/>
          </a:solidFill>
          <a:ln w="12700">
            <a:solidFill>
              <a:srgbClr val="E6DDF5"/>
            </a:solidFill>
            <a:prstDash val="solid"/>
          </a:ln>
        </p:spPr>
        <p:txBody>
          <a:bodyPr/>
          <a:lstStyle/>
          <a:p>
            <a:endParaRPr lang="en-IN"/>
          </a:p>
        </p:txBody>
      </p:sp>
      <p:sp>
        <p:nvSpPr>
          <p:cNvPr id="9" name="Text 5"/>
          <p:cNvSpPr txBox="1"/>
          <p:nvPr/>
        </p:nvSpPr>
        <p:spPr>
          <a:xfrm>
            <a:off x="832104" y="2697480"/>
            <a:ext cx="10835640" cy="2910017"/>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Stage 1  -  the shortlist</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Each search returns its 40 best passages</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A passage is scored by its position in each list, so appearing in both beats appearing high in one</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No thresholds to tune or maintain</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Result: the 30 strongest candidates</a:t>
            </a:r>
            <a:endParaRPr lang="en-US" sz="3000" dirty="0"/>
          </a:p>
        </p:txBody>
      </p:sp>
      <p:sp>
        <p:nvSpPr>
          <p:cNvPr id="10" name="Shape 6"/>
          <p:cNvSpPr/>
          <p:nvPr/>
        </p:nvSpPr>
        <p:spPr>
          <a:xfrm>
            <a:off x="12399264" y="2423160"/>
            <a:ext cx="11475720" cy="3458657"/>
          </a:xfrm>
          <a:prstGeom prst="rect">
            <a:avLst/>
          </a:prstGeom>
          <a:solidFill>
            <a:srgbClr val="FCEDD7"/>
          </a:solidFill>
          <a:ln w="12700">
            <a:solidFill>
              <a:srgbClr val="FCEDD7"/>
            </a:solidFill>
            <a:prstDash val="solid"/>
          </a:ln>
        </p:spPr>
        <p:txBody>
          <a:bodyPr/>
          <a:lstStyle/>
          <a:p>
            <a:endParaRPr lang="en-IN"/>
          </a:p>
        </p:txBody>
      </p:sp>
      <p:sp>
        <p:nvSpPr>
          <p:cNvPr id="11" name="Text 7"/>
          <p:cNvSpPr txBox="1"/>
          <p:nvPr/>
        </p:nvSpPr>
        <p:spPr>
          <a:xfrm>
            <a:off x="12719304" y="2697480"/>
            <a:ext cx="10835640" cy="2910017"/>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Stage 2  -  the decision</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Jina v3.5 - a world-class multilingual reranker</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Reads question and passage together and gives a true relevance score</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About half a second for all 30 passages</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Result: the 8 passages the model may use</a:t>
            </a:r>
            <a:endParaRPr lang="en-US" sz="3000" dirty="0"/>
          </a:p>
        </p:txBody>
      </p:sp>
      <p:sp>
        <p:nvSpPr>
          <p:cNvPr id="12" name="Shape 8"/>
          <p:cNvSpPr/>
          <p:nvPr/>
        </p:nvSpPr>
        <p:spPr>
          <a:xfrm>
            <a:off x="512064" y="6293297"/>
            <a:ext cx="23362920" cy="2699939"/>
          </a:xfrm>
          <a:prstGeom prst="rect">
            <a:avLst/>
          </a:prstGeom>
          <a:solidFill>
            <a:srgbClr val="F9DCD9"/>
          </a:solidFill>
          <a:ln w="12700">
            <a:solidFill>
              <a:srgbClr val="F9DCD9"/>
            </a:solidFill>
            <a:prstDash val="solid"/>
          </a:ln>
        </p:spPr>
        <p:txBody>
          <a:bodyPr/>
          <a:lstStyle/>
          <a:p>
            <a:endParaRPr lang="en-IN"/>
          </a:p>
        </p:txBody>
      </p:sp>
      <p:sp>
        <p:nvSpPr>
          <p:cNvPr id="13" name="Text 9"/>
          <p:cNvSpPr txBox="1"/>
          <p:nvPr/>
        </p:nvSpPr>
        <p:spPr>
          <a:xfrm>
            <a:off x="832104" y="6567617"/>
            <a:ext cx="22722840" cy="2151299"/>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Why this matters to the business</a:t>
            </a:r>
            <a:endParaRPr lang="en-US" sz="3000" dirty="0"/>
          </a:p>
          <a:p>
            <a:pPr marL="279400" indent="-279400" algn="l">
              <a:lnSpc>
                <a:spcPct val="120000"/>
              </a:lnSpc>
              <a:spcAft>
                <a:spcPts val="800"/>
              </a:spcAft>
              <a:buSzPct val="100000"/>
              <a:buChar char="•"/>
            </a:pPr>
            <a:r>
              <a:rPr lang="en-US" sz="2200" dirty="0">
                <a:solidFill>
                  <a:srgbClr val="262629"/>
                </a:solidFill>
                <a:latin typeface="Arial" pitchFamily="34" charset="0"/>
                <a:ea typeface="Arial" pitchFamily="34" charset="-122"/>
                <a:cs typeface="Arial" pitchFamily="34" charset="-120"/>
              </a:rPr>
              <a:t>The model never sees 30 half-relevant pages - it sees 8 strong ones, so answers are shorter, faster and far less likely to drift.</a:t>
            </a:r>
            <a:endParaRPr lang="en-US" sz="3000" dirty="0"/>
          </a:p>
          <a:p>
            <a:pPr marL="279400" indent="-279400" algn="l">
              <a:lnSpc>
                <a:spcPct val="120000"/>
              </a:lnSpc>
              <a:spcAft>
                <a:spcPts val="800"/>
              </a:spcAft>
              <a:buSzPct val="100000"/>
              <a:buChar char="•"/>
            </a:pPr>
            <a:r>
              <a:rPr lang="en-US" sz="2200" dirty="0">
                <a:solidFill>
                  <a:srgbClr val="262629"/>
                </a:solidFill>
                <a:latin typeface="Arial" pitchFamily="34" charset="0"/>
                <a:ea typeface="Arial" pitchFamily="34" charset="-122"/>
                <a:cs typeface="Arial" pitchFamily="34" charset="-120"/>
              </a:rPr>
              <a:t>Every source shown beside an answer carries its score, so a reviewer can see how confident the system was.</a:t>
            </a:r>
            <a:endParaRPr lang="en-US" sz="3000" dirty="0"/>
          </a:p>
          <a:p>
            <a:pPr marL="279400" indent="-279400" algn="l">
              <a:lnSpc>
                <a:spcPct val="120000"/>
              </a:lnSpc>
              <a:spcAft>
                <a:spcPts val="800"/>
              </a:spcAft>
              <a:buSzPct val="100000"/>
              <a:buChar char="•"/>
            </a:pPr>
            <a:r>
              <a:rPr lang="en-US" sz="2200" dirty="0">
                <a:solidFill>
                  <a:srgbClr val="262629"/>
                </a:solidFill>
                <a:latin typeface="Arial" pitchFamily="34" charset="0"/>
                <a:ea typeface="Arial" pitchFamily="34" charset="-122"/>
                <a:cs typeface="Arial" pitchFamily="34" charset="-120"/>
              </a:rPr>
              <a:t>The two stages are independent - we can upgrade the reranker without rebuilding the index.</a:t>
            </a:r>
            <a:endParaRPr lang="en-US" sz="3000" dirty="0"/>
          </a:p>
        </p:txBody>
      </p:sp>
      <p:sp>
        <p:nvSpPr>
          <p:cNvPr id="25" name="Slide Number Placeholder 0"/>
          <p:cNvSpPr>
            <a:spLocks noGrp="1"/>
          </p:cNvSpPr>
          <p:nvPr>
            <p:ph type="sldNum" sz="quarter" idx="4294967295"/>
          </p:nvPr>
        </p:nvSpPr>
        <p:spPr>
          <a:xfrm>
            <a:off x="20208240" y="12911328"/>
            <a:ext cx="82296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DDF5"/>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12064" y="91440"/>
            <a:ext cx="8412480" cy="1737360"/>
          </a:xfrm>
          <a:prstGeom prst="rect">
            <a:avLst/>
          </a:prstGeom>
          <a:noFill/>
          <a:ln/>
        </p:spPr>
        <p:txBody>
          <a:bodyPr wrap="none" lIns="0" tIns="0" rIns="0" bIns="0" rtlCol="0" anchor="b"/>
          <a:lstStyle/>
          <a:p>
            <a:pPr marL="0" indent="0">
              <a:buNone/>
            </a:pPr>
            <a:r>
              <a:rPr lang="en-US" sz="6000" b="1" dirty="0">
                <a:solidFill>
                  <a:srgbClr val="37205D"/>
                </a:solidFill>
                <a:latin typeface="Bodoni MT" pitchFamily="34" charset="0"/>
                <a:ea typeface="Bodoni MT" pitchFamily="34" charset="-122"/>
                <a:cs typeface="Bodoni MT" pitchFamily="34" charset="-120"/>
              </a:rPr>
              <a:t>Reading the page</a:t>
            </a:r>
            <a:endParaRPr lang="en-US" sz="6000" dirty="0"/>
          </a:p>
        </p:txBody>
      </p:sp>
      <p:pic>
        <p:nvPicPr>
          <p:cNvPr id="3" name="Image 0" descr="C:\Users\Dell\.claude\skills\synced\eb4eaa5e-fe0b-45c9-9571-743d8da5acee_0850b5be-1ed7-4d2f-80b3-99313ab5efc0\avaali-brand-pptx\assets\brand\red_underline.png"/>
          <p:cNvPicPr>
            <a:picLocks noChangeAspect="1"/>
          </p:cNvPicPr>
          <p:nvPr/>
        </p:nvPicPr>
        <p:blipFill>
          <a:blip r:embed="rId3"/>
          <a:stretch>
            <a:fillRect/>
          </a:stretch>
        </p:blipFill>
        <p:spPr>
          <a:xfrm>
            <a:off x="530352" y="1847088"/>
            <a:ext cx="2423160" cy="73152"/>
          </a:xfrm>
          <a:prstGeom prst="rect">
            <a:avLst/>
          </a:prstGeom>
        </p:spPr>
      </p:pic>
      <p:sp>
        <p:nvSpPr>
          <p:cNvPr id="4" name="Shape 1"/>
          <p:cNvSpPr/>
          <p:nvPr/>
        </p:nvSpPr>
        <p:spPr>
          <a:xfrm>
            <a:off x="9244584" y="594360"/>
            <a:ext cx="0" cy="960120"/>
          </a:xfrm>
          <a:prstGeom prst="line">
            <a:avLst/>
          </a:prstGeom>
          <a:noFill/>
          <a:ln w="15875">
            <a:solidFill>
              <a:srgbClr val="929292"/>
            </a:solidFill>
            <a:prstDash val="solid"/>
          </a:ln>
        </p:spPr>
        <p:txBody>
          <a:bodyPr/>
          <a:lstStyle/>
          <a:p>
            <a:endParaRPr lang="en-IN"/>
          </a:p>
        </p:txBody>
      </p:sp>
      <p:sp>
        <p:nvSpPr>
          <p:cNvPr id="5" name="Text 2"/>
          <p:cNvSpPr txBox="1"/>
          <p:nvPr/>
        </p:nvSpPr>
        <p:spPr>
          <a:xfrm>
            <a:off x="9518904" y="411480"/>
            <a:ext cx="14499641" cy="1463040"/>
          </a:xfrm>
          <a:prstGeom prst="rect">
            <a:avLst/>
          </a:prstGeom>
          <a:noFill/>
          <a:ln/>
        </p:spPr>
        <p:txBody>
          <a:bodyPr wrap="square" lIns="0" tIns="0" rIns="0" bIns="0" rtlCol="0" anchor="ctr">
            <a:normAutofit/>
          </a:bodyPr>
          <a:lstStyle/>
          <a:p>
            <a:pPr marL="0" indent="0">
              <a:lnSpc>
                <a:spcPct val="115000"/>
              </a:lnSpc>
              <a:buNone/>
            </a:pPr>
            <a:r>
              <a:rPr lang="en-US" sz="2700" dirty="0">
                <a:solidFill>
                  <a:srgbClr val="262629"/>
                </a:solidFill>
                <a:latin typeface="Arial" pitchFamily="34" charset="0"/>
                <a:ea typeface="Arial" pitchFamily="34" charset="-122"/>
                <a:cs typeface="Arial" pitchFamily="34" charset="-120"/>
              </a:rPr>
              <a:t>Scanned, stamped, handwritten, two languages per page - read with Google Gemini.</a:t>
            </a:r>
            <a:endParaRPr lang="en-US" sz="2700" dirty="0"/>
          </a:p>
        </p:txBody>
      </p:sp>
      <p:sp>
        <p:nvSpPr>
          <p:cNvPr id="6" name="Text 3"/>
          <p:cNvSpPr txBox="1"/>
          <p:nvPr/>
        </p:nvSpPr>
        <p:spPr>
          <a:xfrm>
            <a:off x="1289304" y="12755880"/>
            <a:ext cx="19019520" cy="822960"/>
          </a:xfrm>
          <a:prstGeom prst="rect">
            <a:avLst/>
          </a:prstGeom>
          <a:noFill/>
          <a:ln/>
        </p:spPr>
        <p:txBody>
          <a:bodyPr wrap="square" lIns="0" tIns="0" rIns="0" bIns="0" rtlCol="0" anchor="ctr">
            <a:normAutofit/>
          </a:bodyPr>
          <a:lstStyle/>
          <a:p>
            <a:pPr marL="0" indent="0" algn="ctr">
              <a:buNone/>
            </a:pPr>
            <a:r>
              <a:rPr lang="en-US" sz="2200" dirty="0">
                <a:solidFill>
                  <a:srgbClr val="FFFFFF"/>
                </a:solidFill>
                <a:latin typeface="Bodoni MT" pitchFamily="34" charset="0"/>
                <a:ea typeface="Bodoni MT" pitchFamily="34" charset="-122"/>
                <a:cs typeface="Bodoni MT" pitchFamily="34" charset="-120"/>
              </a:rPr>
              <a:t>Tables stay tables - and a </a:t>
            </a:r>
            <a:r>
              <a:rPr lang="en-US" sz="2200" b="1" dirty="0">
                <a:solidFill>
                  <a:srgbClr val="FF0000"/>
                </a:solidFill>
                <a:latin typeface="Bodoni MT" pitchFamily="34" charset="0"/>
                <a:ea typeface="Bodoni MT" pitchFamily="34" charset="-122"/>
                <a:cs typeface="Bodoni MT" pitchFamily="34" charset="-120"/>
              </a:rPr>
              <a:t>second reader</a:t>
            </a:r>
            <a:r>
              <a:rPr lang="en-US" sz="2200" dirty="0">
                <a:solidFill>
                  <a:srgbClr val="FFFFFF"/>
                </a:solidFill>
                <a:latin typeface="Bodoni MT" pitchFamily="34" charset="0"/>
                <a:ea typeface="Bodoni MT" pitchFamily="34" charset="-122"/>
                <a:cs typeface="Bodoni MT" pitchFamily="34" charset="-120"/>
              </a:rPr>
              <a:t> checks the first</a:t>
            </a:r>
            <a:endParaRPr lang="en-US" sz="2200" dirty="0"/>
          </a:p>
        </p:txBody>
      </p:sp>
      <p:sp>
        <p:nvSpPr>
          <p:cNvPr id="8" name="Shape 4"/>
          <p:cNvSpPr/>
          <p:nvPr/>
        </p:nvSpPr>
        <p:spPr>
          <a:xfrm>
            <a:off x="512064" y="2423160"/>
            <a:ext cx="11475720" cy="3108107"/>
          </a:xfrm>
          <a:prstGeom prst="rect">
            <a:avLst/>
          </a:prstGeom>
          <a:solidFill>
            <a:srgbClr val="E6DDF5"/>
          </a:solidFill>
          <a:ln w="12700">
            <a:solidFill>
              <a:srgbClr val="E6DDF5"/>
            </a:solidFill>
            <a:prstDash val="solid"/>
          </a:ln>
        </p:spPr>
        <p:txBody>
          <a:bodyPr/>
          <a:lstStyle/>
          <a:p>
            <a:endParaRPr lang="en-IN"/>
          </a:p>
        </p:txBody>
      </p:sp>
      <p:sp>
        <p:nvSpPr>
          <p:cNvPr id="9" name="Text 5"/>
          <p:cNvSpPr txBox="1"/>
          <p:nvPr/>
        </p:nvSpPr>
        <p:spPr>
          <a:xfrm>
            <a:off x="832104" y="2697480"/>
            <a:ext cx="10835640" cy="2559467"/>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Why Gemini</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Reads Arabic and English columns on the same page</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Keeps price tables as tables, with their header row</a:t>
            </a:r>
            <a:endParaRPr lang="en-US" sz="3000" dirty="0"/>
          </a:p>
          <a:p>
            <a:pPr marL="279400" indent="-279400" algn="l">
              <a:lnSpc>
                <a:spcPct val="120000"/>
              </a:lnSpc>
              <a:spcAft>
                <a:spcPts val="800"/>
              </a:spcAft>
              <a:buSzPct val="100000"/>
              <a:buChar char="•"/>
            </a:pPr>
            <a:r>
              <a:rPr lang="en-US" sz="2100">
                <a:solidFill>
                  <a:srgbClr val="262629"/>
                </a:solidFill>
                <a:latin typeface="Arial" pitchFamily="34" charset="0"/>
                <a:ea typeface="Arial" pitchFamily="34" charset="-122"/>
                <a:cs typeface="Arial" pitchFamily="34" charset="-120"/>
              </a:rPr>
              <a:t>Copies </a:t>
            </a:r>
            <a:r>
              <a:rPr lang="en-US" sz="2100" dirty="0">
                <a:solidFill>
                  <a:srgbClr val="262629"/>
                </a:solidFill>
                <a:latin typeface="Arial" pitchFamily="34" charset="0"/>
                <a:ea typeface="Arial" pitchFamily="34" charset="-122"/>
                <a:cs typeface="Arial" pitchFamily="34" charset="-120"/>
              </a:rPr>
              <a:t>numbers, dates and slashes exactly - it never "corrects" them</a:t>
            </a:r>
            <a:endParaRPr lang="en-US" sz="3000" dirty="0"/>
          </a:p>
        </p:txBody>
      </p:sp>
      <p:sp>
        <p:nvSpPr>
          <p:cNvPr id="10" name="Shape 6"/>
          <p:cNvSpPr/>
          <p:nvPr/>
        </p:nvSpPr>
        <p:spPr>
          <a:xfrm>
            <a:off x="12399264" y="2423160"/>
            <a:ext cx="11475720" cy="3108107"/>
          </a:xfrm>
          <a:prstGeom prst="rect">
            <a:avLst/>
          </a:prstGeom>
          <a:solidFill>
            <a:srgbClr val="FCEDD7"/>
          </a:solidFill>
          <a:ln w="12700">
            <a:solidFill>
              <a:srgbClr val="FCEDD7"/>
            </a:solidFill>
            <a:prstDash val="solid"/>
          </a:ln>
        </p:spPr>
        <p:txBody>
          <a:bodyPr/>
          <a:lstStyle/>
          <a:p>
            <a:endParaRPr lang="en-IN"/>
          </a:p>
        </p:txBody>
      </p:sp>
      <p:sp>
        <p:nvSpPr>
          <p:cNvPr id="11" name="Text 7"/>
          <p:cNvSpPr txBox="1"/>
          <p:nvPr/>
        </p:nvSpPr>
        <p:spPr>
          <a:xfrm>
            <a:off x="12719304" y="2697480"/>
            <a:ext cx="10835640" cy="2559467"/>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It never stops</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Pages are read five at a time, in parallel</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If the Gemini quota runs out, the browser finishes the job itself with on-device OCR</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An interrupted upload resumes - finished pages are not redone</a:t>
            </a:r>
            <a:endParaRPr lang="en-US" sz="3000" dirty="0"/>
          </a:p>
        </p:txBody>
      </p:sp>
      <p:sp>
        <p:nvSpPr>
          <p:cNvPr id="12" name="Shape 8"/>
          <p:cNvSpPr/>
          <p:nvPr/>
        </p:nvSpPr>
        <p:spPr>
          <a:xfrm>
            <a:off x="512064" y="5942747"/>
            <a:ext cx="11475720" cy="3350961"/>
          </a:xfrm>
          <a:prstGeom prst="rect">
            <a:avLst/>
          </a:prstGeom>
          <a:solidFill>
            <a:srgbClr val="F9DCD9"/>
          </a:solidFill>
          <a:ln w="12700">
            <a:solidFill>
              <a:srgbClr val="F9DCD9"/>
            </a:solidFill>
            <a:prstDash val="solid"/>
          </a:ln>
        </p:spPr>
        <p:txBody>
          <a:bodyPr/>
          <a:lstStyle/>
          <a:p>
            <a:endParaRPr lang="en-IN"/>
          </a:p>
        </p:txBody>
      </p:sp>
      <p:sp>
        <p:nvSpPr>
          <p:cNvPr id="13" name="Text 9"/>
          <p:cNvSpPr txBox="1"/>
          <p:nvPr/>
        </p:nvSpPr>
        <p:spPr>
          <a:xfrm>
            <a:off x="832104" y="6217067"/>
            <a:ext cx="10835640" cy="2802321"/>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A second reader</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Every fourth batch, one page is read again by a different engine</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The two readings are compared, and pages that disagree are re-read or flagged</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Bank account numbers are checksum-tested - a failed check means a misread digit</a:t>
            </a:r>
            <a:endParaRPr lang="en-US" sz="3000" dirty="0"/>
          </a:p>
        </p:txBody>
      </p:sp>
      <p:sp>
        <p:nvSpPr>
          <p:cNvPr id="14" name="Shape 10"/>
          <p:cNvSpPr/>
          <p:nvPr/>
        </p:nvSpPr>
        <p:spPr>
          <a:xfrm>
            <a:off x="12399264" y="5942747"/>
            <a:ext cx="11475720" cy="3350961"/>
          </a:xfrm>
          <a:prstGeom prst="rect">
            <a:avLst/>
          </a:prstGeom>
          <a:solidFill>
            <a:srgbClr val="F2F2F5"/>
          </a:solidFill>
          <a:ln w="12700">
            <a:solidFill>
              <a:srgbClr val="F2F2F5"/>
            </a:solidFill>
            <a:prstDash val="solid"/>
          </a:ln>
        </p:spPr>
        <p:txBody>
          <a:bodyPr/>
          <a:lstStyle/>
          <a:p>
            <a:endParaRPr lang="en-IN"/>
          </a:p>
        </p:txBody>
      </p:sp>
      <p:sp>
        <p:nvSpPr>
          <p:cNvPr id="15" name="Text 11"/>
          <p:cNvSpPr txBox="1"/>
          <p:nvPr/>
        </p:nvSpPr>
        <p:spPr>
          <a:xfrm>
            <a:off x="12719304" y="6217067"/>
            <a:ext cx="10835640" cy="2802321"/>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Measured on the MenaBev contracts</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13 of 13 key terms read correctly from text, tables and dates</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About 3 to 5 seconds per scanned page</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An 8-page contract is searchable in roughly 20 seconds</a:t>
            </a:r>
            <a:endParaRPr lang="en-US" sz="3000" dirty="0"/>
          </a:p>
        </p:txBody>
      </p:sp>
      <p:sp>
        <p:nvSpPr>
          <p:cNvPr id="25" name="Slide Number Placeholder 0"/>
          <p:cNvSpPr>
            <a:spLocks noGrp="1"/>
          </p:cNvSpPr>
          <p:nvPr>
            <p:ph type="sldNum" sz="quarter" idx="4294967295"/>
          </p:nvPr>
        </p:nvSpPr>
        <p:spPr>
          <a:xfrm>
            <a:off x="20208240" y="12911328"/>
            <a:ext cx="82296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DDF5"/>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12064" y="91440"/>
            <a:ext cx="9418320" cy="1737360"/>
          </a:xfrm>
          <a:prstGeom prst="rect">
            <a:avLst/>
          </a:prstGeom>
          <a:noFill/>
          <a:ln/>
        </p:spPr>
        <p:txBody>
          <a:bodyPr wrap="none" lIns="0" tIns="0" rIns="0" bIns="0" rtlCol="0" anchor="b"/>
          <a:lstStyle/>
          <a:p>
            <a:pPr marL="0" indent="0">
              <a:buNone/>
            </a:pPr>
            <a:r>
              <a:rPr lang="en-US" sz="6000" b="1" dirty="0">
                <a:solidFill>
                  <a:srgbClr val="37205D"/>
                </a:solidFill>
                <a:latin typeface="Bodoni MT" pitchFamily="34" charset="0"/>
                <a:ea typeface="Bodoni MT" pitchFamily="34" charset="-122"/>
                <a:cs typeface="Bodoni MT" pitchFamily="34" charset="-120"/>
              </a:rPr>
              <a:t>The right language</a:t>
            </a:r>
            <a:endParaRPr lang="en-US" sz="6000" dirty="0"/>
          </a:p>
        </p:txBody>
      </p:sp>
      <p:pic>
        <p:nvPicPr>
          <p:cNvPr id="3" name="Image 0" descr="C:\Users\Dell\.claude\skills\synced\eb4eaa5e-fe0b-45c9-9571-743d8da5acee_0850b5be-1ed7-4d2f-80b3-99313ab5efc0\avaali-brand-pptx\assets\brand\red_underline.png"/>
          <p:cNvPicPr>
            <a:picLocks noChangeAspect="1"/>
          </p:cNvPicPr>
          <p:nvPr/>
        </p:nvPicPr>
        <p:blipFill>
          <a:blip r:embed="rId3"/>
          <a:stretch>
            <a:fillRect/>
          </a:stretch>
        </p:blipFill>
        <p:spPr>
          <a:xfrm>
            <a:off x="530352" y="1847088"/>
            <a:ext cx="2423160" cy="73152"/>
          </a:xfrm>
          <a:prstGeom prst="rect">
            <a:avLst/>
          </a:prstGeom>
        </p:spPr>
      </p:pic>
      <p:sp>
        <p:nvSpPr>
          <p:cNvPr id="4" name="Shape 1"/>
          <p:cNvSpPr/>
          <p:nvPr/>
        </p:nvSpPr>
        <p:spPr>
          <a:xfrm>
            <a:off x="10250424" y="594360"/>
            <a:ext cx="0" cy="960120"/>
          </a:xfrm>
          <a:prstGeom prst="line">
            <a:avLst/>
          </a:prstGeom>
          <a:noFill/>
          <a:ln w="15875">
            <a:solidFill>
              <a:srgbClr val="929292"/>
            </a:solidFill>
            <a:prstDash val="solid"/>
          </a:ln>
        </p:spPr>
        <p:txBody>
          <a:bodyPr/>
          <a:lstStyle/>
          <a:p>
            <a:endParaRPr lang="en-IN"/>
          </a:p>
        </p:txBody>
      </p:sp>
      <p:sp>
        <p:nvSpPr>
          <p:cNvPr id="5" name="Text 2"/>
          <p:cNvSpPr txBox="1"/>
          <p:nvPr/>
        </p:nvSpPr>
        <p:spPr>
          <a:xfrm>
            <a:off x="10524744" y="411480"/>
            <a:ext cx="13493801" cy="1463040"/>
          </a:xfrm>
          <a:prstGeom prst="rect">
            <a:avLst/>
          </a:prstGeom>
          <a:noFill/>
          <a:ln/>
        </p:spPr>
        <p:txBody>
          <a:bodyPr wrap="square" lIns="0" tIns="0" rIns="0" bIns="0" rtlCol="0" anchor="ctr">
            <a:normAutofit/>
          </a:bodyPr>
          <a:lstStyle/>
          <a:p>
            <a:pPr marL="0" indent="0">
              <a:lnSpc>
                <a:spcPct val="115000"/>
              </a:lnSpc>
              <a:buNone/>
            </a:pPr>
            <a:r>
              <a:rPr lang="en-US" sz="2700" dirty="0">
                <a:solidFill>
                  <a:srgbClr val="262629"/>
                </a:solidFill>
                <a:latin typeface="Arial" pitchFamily="34" charset="0"/>
                <a:ea typeface="Arial" pitchFamily="34" charset="-122"/>
                <a:cs typeface="Arial" pitchFamily="34" charset="-120"/>
              </a:rPr>
              <a:t>A detector we wrote ourselves, because the standard ones fail on short questions.</a:t>
            </a:r>
            <a:endParaRPr lang="en-US" sz="2700" dirty="0"/>
          </a:p>
        </p:txBody>
      </p:sp>
      <p:sp>
        <p:nvSpPr>
          <p:cNvPr id="6" name="Text 3"/>
          <p:cNvSpPr txBox="1"/>
          <p:nvPr/>
        </p:nvSpPr>
        <p:spPr>
          <a:xfrm>
            <a:off x="1289304" y="12755880"/>
            <a:ext cx="19019520" cy="822960"/>
          </a:xfrm>
          <a:prstGeom prst="rect">
            <a:avLst/>
          </a:prstGeom>
          <a:noFill/>
          <a:ln/>
        </p:spPr>
        <p:txBody>
          <a:bodyPr wrap="square" lIns="0" tIns="0" rIns="0" bIns="0" rtlCol="0" anchor="ctr">
            <a:normAutofit/>
          </a:bodyPr>
          <a:lstStyle/>
          <a:p>
            <a:pPr marL="0" indent="0" algn="ctr">
              <a:buNone/>
            </a:pPr>
            <a:r>
              <a:rPr lang="en-US" sz="2200" dirty="0">
                <a:solidFill>
                  <a:srgbClr val="FFFFFF"/>
                </a:solidFill>
                <a:latin typeface="Bodoni MT" pitchFamily="34" charset="0"/>
                <a:ea typeface="Bodoni MT" pitchFamily="34" charset="-122"/>
                <a:cs typeface="Bodoni MT" pitchFamily="34" charset="-120"/>
              </a:rPr>
              <a:t>Our detector: </a:t>
            </a:r>
            <a:r>
              <a:rPr lang="en-US" sz="2200" b="1" dirty="0">
                <a:solidFill>
                  <a:srgbClr val="FF0000"/>
                </a:solidFill>
                <a:latin typeface="Bodoni MT" pitchFamily="34" charset="0"/>
                <a:ea typeface="Bodoni MT" pitchFamily="34" charset="-122"/>
                <a:cs typeface="Bodoni MT" pitchFamily="34" charset="-120"/>
              </a:rPr>
              <a:t>13 of 13</a:t>
            </a:r>
            <a:r>
              <a:rPr lang="en-US" sz="2200" dirty="0">
                <a:solidFill>
                  <a:srgbClr val="FFFFFF"/>
                </a:solidFill>
                <a:latin typeface="Bodoni MT" pitchFamily="34" charset="0"/>
                <a:ea typeface="Bodoni MT" pitchFamily="34" charset="-122"/>
                <a:cs typeface="Bodoni MT" pitchFamily="34" charset="-120"/>
              </a:rPr>
              <a:t>. The standard library: </a:t>
            </a:r>
            <a:r>
              <a:rPr lang="en-US" sz="2200" b="1" dirty="0">
                <a:solidFill>
                  <a:srgbClr val="FF0000"/>
                </a:solidFill>
                <a:latin typeface="Bodoni MT" pitchFamily="34" charset="0"/>
                <a:ea typeface="Bodoni MT" pitchFamily="34" charset="-122"/>
                <a:cs typeface="Bodoni MT" pitchFamily="34" charset="-120"/>
              </a:rPr>
              <a:t>10 of 13</a:t>
            </a:r>
            <a:endParaRPr lang="en-US" sz="2200" dirty="0"/>
          </a:p>
        </p:txBody>
      </p:sp>
      <p:sp>
        <p:nvSpPr>
          <p:cNvPr id="8" name="Shape 4"/>
          <p:cNvSpPr/>
          <p:nvPr/>
        </p:nvSpPr>
        <p:spPr>
          <a:xfrm>
            <a:off x="512064" y="2423160"/>
            <a:ext cx="11475720" cy="3809208"/>
          </a:xfrm>
          <a:prstGeom prst="rect">
            <a:avLst/>
          </a:prstGeom>
          <a:solidFill>
            <a:srgbClr val="E6DDF5"/>
          </a:solidFill>
          <a:ln w="12700">
            <a:solidFill>
              <a:srgbClr val="E6DDF5"/>
            </a:solidFill>
            <a:prstDash val="solid"/>
          </a:ln>
        </p:spPr>
        <p:txBody>
          <a:bodyPr/>
          <a:lstStyle/>
          <a:p>
            <a:endParaRPr lang="en-IN"/>
          </a:p>
        </p:txBody>
      </p:sp>
      <p:sp>
        <p:nvSpPr>
          <p:cNvPr id="9" name="Text 5"/>
          <p:cNvSpPr txBox="1"/>
          <p:nvPr/>
        </p:nvSpPr>
        <p:spPr>
          <a:xfrm>
            <a:off x="832104" y="2697480"/>
            <a:ext cx="10835640" cy="3260568"/>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How we detect it</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We read the script itself rather than guessing statistically - reliable even on a two-word question</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Letters that exist only in Urdu separate Urdu from Arabic</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On our test questions the standard library scored 10 of 13; ours scores 13 of 13</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Documents are classified too, including genuinely bilingual ones</a:t>
            </a:r>
            <a:endParaRPr lang="en-US" sz="3000" dirty="0"/>
          </a:p>
        </p:txBody>
      </p:sp>
      <p:sp>
        <p:nvSpPr>
          <p:cNvPr id="10" name="Shape 6"/>
          <p:cNvSpPr/>
          <p:nvPr/>
        </p:nvSpPr>
        <p:spPr>
          <a:xfrm>
            <a:off x="12399264" y="2423160"/>
            <a:ext cx="11475720" cy="3809208"/>
          </a:xfrm>
          <a:prstGeom prst="rect">
            <a:avLst/>
          </a:prstGeom>
          <a:solidFill>
            <a:srgbClr val="FCEDD7"/>
          </a:solidFill>
          <a:ln w="12700">
            <a:solidFill>
              <a:srgbClr val="FCEDD7"/>
            </a:solidFill>
            <a:prstDash val="solid"/>
          </a:ln>
        </p:spPr>
        <p:txBody>
          <a:bodyPr/>
          <a:lstStyle/>
          <a:p>
            <a:endParaRPr lang="en-IN"/>
          </a:p>
        </p:txBody>
      </p:sp>
      <p:sp>
        <p:nvSpPr>
          <p:cNvPr id="11" name="Text 7"/>
          <p:cNvSpPr txBox="1"/>
          <p:nvPr/>
        </p:nvSpPr>
        <p:spPr>
          <a:xfrm>
            <a:off x="12719304" y="2697480"/>
            <a:ext cx="10835640" cy="3260568"/>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And how we enforce it</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The model must answer in the language of the question, whatever language the contract is in</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The opening words of every answer are checked before the user sees them</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If the model drifts into the wrong language the answer is discarded and asked for again - silently</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Ask in Urdu about an Arabic contract and the answer comes back in Urdu</a:t>
            </a:r>
            <a:endParaRPr lang="en-US" sz="3000" dirty="0"/>
          </a:p>
        </p:txBody>
      </p:sp>
      <p:sp>
        <p:nvSpPr>
          <p:cNvPr id="25" name="Slide Number Placeholder 0"/>
          <p:cNvSpPr>
            <a:spLocks noGrp="1"/>
          </p:cNvSpPr>
          <p:nvPr>
            <p:ph type="sldNum" sz="quarter" idx="4294967295"/>
          </p:nvPr>
        </p:nvSpPr>
        <p:spPr>
          <a:xfrm>
            <a:off x="20208240" y="12911328"/>
            <a:ext cx="82296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DDF5"/>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12064" y="91440"/>
            <a:ext cx="10927080" cy="1737360"/>
          </a:xfrm>
          <a:prstGeom prst="rect">
            <a:avLst/>
          </a:prstGeom>
          <a:noFill/>
          <a:ln/>
        </p:spPr>
        <p:txBody>
          <a:bodyPr wrap="none" lIns="0" tIns="0" rIns="0" bIns="0" rtlCol="0" anchor="b"/>
          <a:lstStyle/>
          <a:p>
            <a:pPr marL="0" indent="0">
              <a:buNone/>
            </a:pPr>
            <a:r>
              <a:rPr lang="en-US" sz="6000" b="1" dirty="0">
                <a:solidFill>
                  <a:srgbClr val="37205D"/>
                </a:solidFill>
                <a:latin typeface="Bodoni MT" pitchFamily="34" charset="0"/>
                <a:ea typeface="Bodoni MT" pitchFamily="34" charset="-122"/>
                <a:cs typeface="Bodoni MT" pitchFamily="34" charset="-120"/>
              </a:rPr>
              <a:t>Answers you can check</a:t>
            </a:r>
            <a:endParaRPr lang="en-US" sz="6000" dirty="0"/>
          </a:p>
        </p:txBody>
      </p:sp>
      <p:pic>
        <p:nvPicPr>
          <p:cNvPr id="3" name="Image 0" descr="C:\Users\Dell\.claude\skills\synced\eb4eaa5e-fe0b-45c9-9571-743d8da5acee_0850b5be-1ed7-4d2f-80b3-99313ab5efc0\avaali-brand-pptx\assets\brand\red_underline.png"/>
          <p:cNvPicPr>
            <a:picLocks noChangeAspect="1"/>
          </p:cNvPicPr>
          <p:nvPr/>
        </p:nvPicPr>
        <p:blipFill>
          <a:blip r:embed="rId3"/>
          <a:stretch>
            <a:fillRect/>
          </a:stretch>
        </p:blipFill>
        <p:spPr>
          <a:xfrm>
            <a:off x="530352" y="1847088"/>
            <a:ext cx="2423160" cy="73152"/>
          </a:xfrm>
          <a:prstGeom prst="rect">
            <a:avLst/>
          </a:prstGeom>
        </p:spPr>
      </p:pic>
      <p:sp>
        <p:nvSpPr>
          <p:cNvPr id="4" name="Shape 1"/>
          <p:cNvSpPr/>
          <p:nvPr/>
        </p:nvSpPr>
        <p:spPr>
          <a:xfrm>
            <a:off x="11759184" y="594360"/>
            <a:ext cx="0" cy="960120"/>
          </a:xfrm>
          <a:prstGeom prst="line">
            <a:avLst/>
          </a:prstGeom>
          <a:noFill/>
          <a:ln w="15875">
            <a:solidFill>
              <a:srgbClr val="929292"/>
            </a:solidFill>
            <a:prstDash val="solid"/>
          </a:ln>
        </p:spPr>
        <p:txBody>
          <a:bodyPr/>
          <a:lstStyle/>
          <a:p>
            <a:endParaRPr lang="en-IN"/>
          </a:p>
        </p:txBody>
      </p:sp>
      <p:sp>
        <p:nvSpPr>
          <p:cNvPr id="5" name="Text 2"/>
          <p:cNvSpPr txBox="1"/>
          <p:nvPr/>
        </p:nvSpPr>
        <p:spPr>
          <a:xfrm>
            <a:off x="12033504" y="411480"/>
            <a:ext cx="11985041" cy="1463040"/>
          </a:xfrm>
          <a:prstGeom prst="rect">
            <a:avLst/>
          </a:prstGeom>
          <a:noFill/>
          <a:ln/>
        </p:spPr>
        <p:txBody>
          <a:bodyPr wrap="square" lIns="0" tIns="0" rIns="0" bIns="0" rtlCol="0" anchor="ctr">
            <a:normAutofit/>
          </a:bodyPr>
          <a:lstStyle/>
          <a:p>
            <a:pPr marL="0" indent="0">
              <a:lnSpc>
                <a:spcPct val="115000"/>
              </a:lnSpc>
              <a:buNone/>
            </a:pPr>
            <a:r>
              <a:rPr lang="en-US" sz="2700" dirty="0">
                <a:solidFill>
                  <a:srgbClr val="262629"/>
                </a:solidFill>
                <a:latin typeface="Arial" pitchFamily="34" charset="0"/>
                <a:ea typeface="Arial" pitchFamily="34" charset="-122"/>
                <a:cs typeface="Arial" pitchFamily="34" charset="-120"/>
              </a:rPr>
              <a:t>Three layers that stop the system sounding confident and being wrong.</a:t>
            </a:r>
            <a:endParaRPr lang="en-US" sz="2700" dirty="0"/>
          </a:p>
        </p:txBody>
      </p:sp>
      <p:sp>
        <p:nvSpPr>
          <p:cNvPr id="6" name="Text 3"/>
          <p:cNvSpPr txBox="1"/>
          <p:nvPr/>
        </p:nvSpPr>
        <p:spPr>
          <a:xfrm>
            <a:off x="1289304" y="12755880"/>
            <a:ext cx="19019520" cy="822960"/>
          </a:xfrm>
          <a:prstGeom prst="rect">
            <a:avLst/>
          </a:prstGeom>
          <a:noFill/>
          <a:ln/>
        </p:spPr>
        <p:txBody>
          <a:bodyPr wrap="square" lIns="0" tIns="0" rIns="0" bIns="0" rtlCol="0" anchor="ctr">
            <a:normAutofit/>
          </a:bodyPr>
          <a:lstStyle/>
          <a:p>
            <a:pPr marL="0" indent="0" algn="ctr">
              <a:buNone/>
            </a:pPr>
            <a:r>
              <a:rPr lang="en-US" sz="2200" dirty="0">
                <a:solidFill>
                  <a:srgbClr val="FFFFFF"/>
                </a:solidFill>
                <a:latin typeface="Bodoni MT" pitchFamily="34" charset="0"/>
                <a:ea typeface="Bodoni MT" pitchFamily="34" charset="-122"/>
                <a:cs typeface="Bodoni MT" pitchFamily="34" charset="-120"/>
              </a:rPr>
              <a:t>If it is not in your documents, the answer is </a:t>
            </a:r>
            <a:r>
              <a:rPr lang="en-US" sz="2200" b="1" dirty="0">
                <a:solidFill>
                  <a:srgbClr val="FF0000"/>
                </a:solidFill>
                <a:latin typeface="Bodoni MT" pitchFamily="34" charset="0"/>
                <a:ea typeface="Bodoni MT" pitchFamily="34" charset="-122"/>
                <a:cs typeface="Bodoni MT" pitchFamily="34" charset="-120"/>
              </a:rPr>
              <a:t>"I could not find it"</a:t>
            </a:r>
            <a:endParaRPr lang="en-US" sz="2200" dirty="0"/>
          </a:p>
        </p:txBody>
      </p:sp>
      <p:sp>
        <p:nvSpPr>
          <p:cNvPr id="8" name="Shape 4"/>
          <p:cNvSpPr/>
          <p:nvPr/>
        </p:nvSpPr>
        <p:spPr>
          <a:xfrm>
            <a:off x="512064" y="2423160"/>
            <a:ext cx="7513320" cy="3701512"/>
          </a:xfrm>
          <a:prstGeom prst="rect">
            <a:avLst/>
          </a:prstGeom>
          <a:solidFill>
            <a:srgbClr val="E6DDF5"/>
          </a:solidFill>
          <a:ln w="12700">
            <a:solidFill>
              <a:srgbClr val="E6DDF5"/>
            </a:solidFill>
            <a:prstDash val="solid"/>
          </a:ln>
        </p:spPr>
        <p:txBody>
          <a:bodyPr/>
          <a:lstStyle/>
          <a:p>
            <a:endParaRPr lang="en-IN"/>
          </a:p>
        </p:txBody>
      </p:sp>
      <p:sp>
        <p:nvSpPr>
          <p:cNvPr id="9" name="Text 5"/>
          <p:cNvSpPr txBox="1"/>
          <p:nvPr/>
        </p:nvSpPr>
        <p:spPr>
          <a:xfrm>
            <a:off x="832104" y="2697480"/>
            <a:ext cx="6873240" cy="3152872"/>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1.  Only your sources</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The model is given 8 passages and told to use nothing else</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If the answer is not there it must say so, in the user’s language</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Our test set includes a question with no answer in the documents, to prove it refuses</a:t>
            </a:r>
            <a:endParaRPr lang="en-US" sz="3000" dirty="0"/>
          </a:p>
        </p:txBody>
      </p:sp>
      <p:sp>
        <p:nvSpPr>
          <p:cNvPr id="10" name="Shape 6"/>
          <p:cNvSpPr/>
          <p:nvPr/>
        </p:nvSpPr>
        <p:spPr>
          <a:xfrm>
            <a:off x="8436864" y="2423160"/>
            <a:ext cx="7513320" cy="3701512"/>
          </a:xfrm>
          <a:prstGeom prst="rect">
            <a:avLst/>
          </a:prstGeom>
          <a:solidFill>
            <a:srgbClr val="FCEDD7"/>
          </a:solidFill>
          <a:ln w="12700">
            <a:solidFill>
              <a:srgbClr val="FCEDD7"/>
            </a:solidFill>
            <a:prstDash val="solid"/>
          </a:ln>
        </p:spPr>
        <p:txBody>
          <a:bodyPr/>
          <a:lstStyle/>
          <a:p>
            <a:endParaRPr lang="en-IN"/>
          </a:p>
        </p:txBody>
      </p:sp>
      <p:sp>
        <p:nvSpPr>
          <p:cNvPr id="11" name="Text 7"/>
          <p:cNvSpPr txBox="1"/>
          <p:nvPr/>
        </p:nvSpPr>
        <p:spPr>
          <a:xfrm>
            <a:off x="8756904" y="2697480"/>
            <a:ext cx="6873240" cy="3152872"/>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2.  Cited to the page</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Every fact carries a source number</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Each source names the document, the page and the article</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Sources appear on screen before the answer starts, so nothing is hidden</a:t>
            </a:r>
            <a:endParaRPr lang="en-US" sz="3000" dirty="0"/>
          </a:p>
        </p:txBody>
      </p:sp>
      <p:sp>
        <p:nvSpPr>
          <p:cNvPr id="12" name="Shape 8"/>
          <p:cNvSpPr/>
          <p:nvPr/>
        </p:nvSpPr>
        <p:spPr>
          <a:xfrm>
            <a:off x="16361664" y="2423160"/>
            <a:ext cx="7513320" cy="3701512"/>
          </a:xfrm>
          <a:prstGeom prst="rect">
            <a:avLst/>
          </a:prstGeom>
          <a:solidFill>
            <a:srgbClr val="F9DCD9"/>
          </a:solidFill>
          <a:ln w="12700">
            <a:solidFill>
              <a:srgbClr val="F9DCD9"/>
            </a:solidFill>
            <a:prstDash val="solid"/>
          </a:ln>
        </p:spPr>
        <p:txBody>
          <a:bodyPr/>
          <a:lstStyle/>
          <a:p>
            <a:endParaRPr lang="en-IN"/>
          </a:p>
        </p:txBody>
      </p:sp>
      <p:sp>
        <p:nvSpPr>
          <p:cNvPr id="13" name="Text 9"/>
          <p:cNvSpPr txBox="1"/>
          <p:nvPr/>
        </p:nvSpPr>
        <p:spPr>
          <a:xfrm>
            <a:off x="16681704" y="2697480"/>
            <a:ext cx="6873240" cy="3152872"/>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3.  Checked afterwards</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Every date in the answer - Gregorian and Hijri - must exist in the sources</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Every amount and identifier must exist in the sources</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Anything that does not match is flagged on screen as "please verify"</a:t>
            </a:r>
            <a:endParaRPr lang="en-US" sz="3000" dirty="0"/>
          </a:p>
        </p:txBody>
      </p:sp>
      <p:sp>
        <p:nvSpPr>
          <p:cNvPr id="25" name="Slide Number Placeholder 0"/>
          <p:cNvSpPr>
            <a:spLocks noGrp="1"/>
          </p:cNvSpPr>
          <p:nvPr>
            <p:ph type="sldNum" sz="quarter" idx="4294967295"/>
          </p:nvPr>
        </p:nvSpPr>
        <p:spPr>
          <a:xfrm>
            <a:off x="20208240" y="12911328"/>
            <a:ext cx="82296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DDF5"/>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12064" y="91440"/>
            <a:ext cx="9418320" cy="1737360"/>
          </a:xfrm>
          <a:prstGeom prst="rect">
            <a:avLst/>
          </a:prstGeom>
          <a:noFill/>
          <a:ln/>
        </p:spPr>
        <p:txBody>
          <a:bodyPr wrap="none" lIns="0" tIns="0" rIns="0" bIns="0" rtlCol="0" anchor="b"/>
          <a:lstStyle/>
          <a:p>
            <a:pPr marL="0" indent="0">
              <a:buNone/>
            </a:pPr>
            <a:r>
              <a:rPr lang="en-US" sz="6000" b="1" dirty="0">
                <a:solidFill>
                  <a:srgbClr val="37205D"/>
                </a:solidFill>
                <a:latin typeface="Bodoni MT" pitchFamily="34" charset="0"/>
                <a:ea typeface="Bodoni MT" pitchFamily="34" charset="-122"/>
                <a:cs typeface="Bodoni MT" pitchFamily="34" charset="-120"/>
              </a:rPr>
              <a:t>A Gulf-built model</a:t>
            </a:r>
            <a:endParaRPr lang="en-US" sz="6000" dirty="0"/>
          </a:p>
        </p:txBody>
      </p:sp>
      <p:pic>
        <p:nvPicPr>
          <p:cNvPr id="3" name="Image 0" descr="C:\Users\Dell\.claude\skills\synced\eb4eaa5e-fe0b-45c9-9571-743d8da5acee_0850b5be-1ed7-4d2f-80b3-99313ab5efc0\avaali-brand-pptx\assets\brand\red_underline.png"/>
          <p:cNvPicPr>
            <a:picLocks noChangeAspect="1"/>
          </p:cNvPicPr>
          <p:nvPr/>
        </p:nvPicPr>
        <p:blipFill>
          <a:blip r:embed="rId3"/>
          <a:stretch>
            <a:fillRect/>
          </a:stretch>
        </p:blipFill>
        <p:spPr>
          <a:xfrm>
            <a:off x="530352" y="1847088"/>
            <a:ext cx="2423160" cy="73152"/>
          </a:xfrm>
          <a:prstGeom prst="rect">
            <a:avLst/>
          </a:prstGeom>
        </p:spPr>
      </p:pic>
      <p:sp>
        <p:nvSpPr>
          <p:cNvPr id="4" name="Shape 1"/>
          <p:cNvSpPr/>
          <p:nvPr/>
        </p:nvSpPr>
        <p:spPr>
          <a:xfrm>
            <a:off x="10250424" y="594360"/>
            <a:ext cx="0" cy="960120"/>
          </a:xfrm>
          <a:prstGeom prst="line">
            <a:avLst/>
          </a:prstGeom>
          <a:noFill/>
          <a:ln w="15875">
            <a:solidFill>
              <a:srgbClr val="929292"/>
            </a:solidFill>
            <a:prstDash val="solid"/>
          </a:ln>
        </p:spPr>
        <p:txBody>
          <a:bodyPr/>
          <a:lstStyle/>
          <a:p>
            <a:endParaRPr lang="en-IN"/>
          </a:p>
        </p:txBody>
      </p:sp>
      <p:sp>
        <p:nvSpPr>
          <p:cNvPr id="5" name="Text 2"/>
          <p:cNvSpPr txBox="1"/>
          <p:nvPr/>
        </p:nvSpPr>
        <p:spPr>
          <a:xfrm>
            <a:off x="10524744" y="411480"/>
            <a:ext cx="13493801" cy="1463040"/>
          </a:xfrm>
          <a:prstGeom prst="rect">
            <a:avLst/>
          </a:prstGeom>
          <a:noFill/>
          <a:ln/>
        </p:spPr>
        <p:txBody>
          <a:bodyPr wrap="square" lIns="0" tIns="0" rIns="0" bIns="0" rtlCol="0" anchor="ctr">
            <a:normAutofit/>
          </a:bodyPr>
          <a:lstStyle/>
          <a:p>
            <a:pPr marL="0" indent="0">
              <a:lnSpc>
                <a:spcPct val="115000"/>
              </a:lnSpc>
              <a:buNone/>
            </a:pPr>
            <a:r>
              <a:rPr lang="en-US" sz="2700" dirty="0">
                <a:solidFill>
                  <a:srgbClr val="262629"/>
                </a:solidFill>
                <a:latin typeface="Arial" pitchFamily="34" charset="0"/>
                <a:ea typeface="Arial" pitchFamily="34" charset="-122"/>
                <a:cs typeface="Arial" pitchFamily="34" charset="-120"/>
              </a:rPr>
              <a:t>Fanar, built by the Qatar Computing Research Institute - Arabic-first, and ours to host.</a:t>
            </a:r>
            <a:endParaRPr lang="en-US" sz="2700" dirty="0"/>
          </a:p>
        </p:txBody>
      </p:sp>
      <p:sp>
        <p:nvSpPr>
          <p:cNvPr id="6" name="Text 3"/>
          <p:cNvSpPr txBox="1"/>
          <p:nvPr/>
        </p:nvSpPr>
        <p:spPr>
          <a:xfrm>
            <a:off x="1289304" y="12755880"/>
            <a:ext cx="19019520" cy="822960"/>
          </a:xfrm>
          <a:prstGeom prst="rect">
            <a:avLst/>
          </a:prstGeom>
          <a:noFill/>
          <a:ln/>
        </p:spPr>
        <p:txBody>
          <a:bodyPr wrap="square" lIns="0" tIns="0" rIns="0" bIns="0" rtlCol="0" anchor="ctr">
            <a:normAutofit/>
          </a:bodyPr>
          <a:lstStyle/>
          <a:p>
            <a:pPr marL="0" indent="0" algn="ctr">
              <a:buNone/>
            </a:pPr>
            <a:r>
              <a:rPr lang="en-US" sz="2200" dirty="0">
                <a:solidFill>
                  <a:srgbClr val="FFFFFF"/>
                </a:solidFill>
                <a:latin typeface="Bodoni MT" pitchFamily="34" charset="0"/>
                <a:ea typeface="Bodoni MT" pitchFamily="34" charset="-122"/>
                <a:cs typeface="Bodoni MT" pitchFamily="34" charset="-120"/>
              </a:rPr>
              <a:t>Arabic-first answers, and a path to </a:t>
            </a:r>
            <a:r>
              <a:rPr lang="en-US" sz="2200" b="1" dirty="0">
                <a:solidFill>
                  <a:srgbClr val="FF0000"/>
                </a:solidFill>
                <a:latin typeface="Bodoni MT" pitchFamily="34" charset="0"/>
                <a:ea typeface="Bodoni MT" pitchFamily="34" charset="-122"/>
                <a:cs typeface="Bodoni MT" pitchFamily="34" charset="-120"/>
              </a:rPr>
              <a:t>zero document text</a:t>
            </a:r>
            <a:r>
              <a:rPr lang="en-US" sz="2200" dirty="0">
                <a:solidFill>
                  <a:srgbClr val="FFFFFF"/>
                </a:solidFill>
                <a:latin typeface="Bodoni MT" pitchFamily="34" charset="0"/>
                <a:ea typeface="Bodoni MT" pitchFamily="34" charset="-122"/>
                <a:cs typeface="Bodoni MT" pitchFamily="34" charset="-120"/>
              </a:rPr>
              <a:t> leaving your servers</a:t>
            </a:r>
            <a:endParaRPr lang="en-US" sz="2200" dirty="0"/>
          </a:p>
        </p:txBody>
      </p:sp>
      <p:sp>
        <p:nvSpPr>
          <p:cNvPr id="8" name="Shape 4"/>
          <p:cNvSpPr/>
          <p:nvPr/>
        </p:nvSpPr>
        <p:spPr>
          <a:xfrm>
            <a:off x="512064" y="2423160"/>
            <a:ext cx="11475720" cy="3000411"/>
          </a:xfrm>
          <a:prstGeom prst="rect">
            <a:avLst/>
          </a:prstGeom>
          <a:solidFill>
            <a:srgbClr val="E6DDF5"/>
          </a:solidFill>
          <a:ln w="12700">
            <a:solidFill>
              <a:srgbClr val="E6DDF5"/>
            </a:solidFill>
            <a:prstDash val="solid"/>
          </a:ln>
        </p:spPr>
        <p:txBody>
          <a:bodyPr/>
          <a:lstStyle/>
          <a:p>
            <a:endParaRPr lang="en-IN"/>
          </a:p>
        </p:txBody>
      </p:sp>
      <p:sp>
        <p:nvSpPr>
          <p:cNvPr id="9" name="Text 5"/>
          <p:cNvSpPr txBox="1"/>
          <p:nvPr/>
        </p:nvSpPr>
        <p:spPr>
          <a:xfrm>
            <a:off x="832104" y="2697480"/>
            <a:ext cx="10835640" cy="2451771"/>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Why Fanar, not a Western model</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Built in Qatar and trained Arabic-first - not English translated into Arabic</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Handles Gulf business and legal phrasing</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Keeps regional data inside the region</a:t>
            </a:r>
            <a:endParaRPr lang="en-US" sz="3000" dirty="0"/>
          </a:p>
        </p:txBody>
      </p:sp>
      <p:sp>
        <p:nvSpPr>
          <p:cNvPr id="10" name="Shape 6"/>
          <p:cNvSpPr/>
          <p:nvPr/>
        </p:nvSpPr>
        <p:spPr>
          <a:xfrm>
            <a:off x="12399264" y="2423160"/>
            <a:ext cx="11475720" cy="3000411"/>
          </a:xfrm>
          <a:prstGeom prst="rect">
            <a:avLst/>
          </a:prstGeom>
          <a:solidFill>
            <a:srgbClr val="FCEDD7"/>
          </a:solidFill>
          <a:ln w="12700">
            <a:solidFill>
              <a:srgbClr val="FCEDD7"/>
            </a:solidFill>
            <a:prstDash val="solid"/>
          </a:ln>
        </p:spPr>
        <p:txBody>
          <a:bodyPr/>
          <a:lstStyle/>
          <a:p>
            <a:endParaRPr lang="en-IN"/>
          </a:p>
        </p:txBody>
      </p:sp>
      <p:sp>
        <p:nvSpPr>
          <p:cNvPr id="11" name="Text 7"/>
          <p:cNvSpPr txBox="1"/>
          <p:nvPr/>
        </p:nvSpPr>
        <p:spPr>
          <a:xfrm>
            <a:off x="12719304" y="2697480"/>
            <a:ext cx="10835640" cy="2451771"/>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Sovereignty is a switch, not a rebuild</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The model weights are openly licensed</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We can run it on MenaBev’s own servers by changing one setting</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At that point no document text leaves your infrastructure</a:t>
            </a:r>
            <a:endParaRPr lang="en-US" sz="3000" dirty="0"/>
          </a:p>
        </p:txBody>
      </p:sp>
      <p:sp>
        <p:nvSpPr>
          <p:cNvPr id="12" name="Shape 8"/>
          <p:cNvSpPr/>
          <p:nvPr/>
        </p:nvSpPr>
        <p:spPr>
          <a:xfrm>
            <a:off x="512064" y="5835051"/>
            <a:ext cx="23362920" cy="3174878"/>
          </a:xfrm>
          <a:prstGeom prst="rect">
            <a:avLst/>
          </a:prstGeom>
          <a:solidFill>
            <a:srgbClr val="F9DCD9"/>
          </a:solidFill>
          <a:ln w="12700">
            <a:solidFill>
              <a:srgbClr val="F9DCD9"/>
            </a:solidFill>
            <a:prstDash val="solid"/>
          </a:ln>
        </p:spPr>
        <p:txBody>
          <a:bodyPr/>
          <a:lstStyle/>
          <a:p>
            <a:endParaRPr lang="en-IN"/>
          </a:p>
        </p:txBody>
      </p:sp>
      <p:sp>
        <p:nvSpPr>
          <p:cNvPr id="13" name="Text 9"/>
          <p:cNvSpPr txBox="1"/>
          <p:nvPr/>
        </p:nvSpPr>
        <p:spPr>
          <a:xfrm>
            <a:off x="832104" y="6109371"/>
            <a:ext cx="22722840" cy="2626238"/>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How we use it</a:t>
            </a:r>
            <a:endParaRPr lang="en-US" sz="3000" dirty="0"/>
          </a:p>
          <a:p>
            <a:pPr marL="279400" indent="-279400" algn="l">
              <a:lnSpc>
                <a:spcPct val="120000"/>
              </a:lnSpc>
              <a:spcAft>
                <a:spcPts val="800"/>
              </a:spcAft>
              <a:buSzPct val="100000"/>
              <a:buChar char="•"/>
            </a:pPr>
            <a:r>
              <a:rPr lang="en-US" sz="2200" dirty="0">
                <a:solidFill>
                  <a:srgbClr val="262629"/>
                </a:solidFill>
                <a:latin typeface="Arial" pitchFamily="34" charset="0"/>
                <a:ea typeface="Arial" pitchFamily="34" charset="-122"/>
                <a:cs typeface="Arial" pitchFamily="34" charset="-120"/>
              </a:rPr>
              <a:t>A low creativity setting, so the same question gives the same answer - essential for a contract.</a:t>
            </a:r>
            <a:endParaRPr lang="en-US" sz="3000" dirty="0"/>
          </a:p>
          <a:p>
            <a:pPr marL="279400" indent="-279400" algn="l">
              <a:lnSpc>
                <a:spcPct val="120000"/>
              </a:lnSpc>
              <a:spcAft>
                <a:spcPts val="800"/>
              </a:spcAft>
              <a:buSzPct val="100000"/>
              <a:buChar char="•"/>
            </a:pPr>
            <a:r>
              <a:rPr lang="en-US" sz="2200" dirty="0">
                <a:solidFill>
                  <a:srgbClr val="262629"/>
                </a:solidFill>
                <a:latin typeface="Arial" pitchFamily="34" charset="0"/>
                <a:ea typeface="Arial" pitchFamily="34" charset="-122"/>
                <a:cs typeface="Arial" pitchFamily="34" charset="-120"/>
              </a:rPr>
              <a:t>Answers stream word by word and the sources appear first, so nobody waits at a blank screen.</a:t>
            </a:r>
            <a:endParaRPr lang="en-US" sz="3000" dirty="0"/>
          </a:p>
          <a:p>
            <a:pPr marL="279400" indent="-279400" algn="l">
              <a:lnSpc>
                <a:spcPct val="120000"/>
              </a:lnSpc>
              <a:spcAft>
                <a:spcPts val="800"/>
              </a:spcAft>
              <a:buSzPct val="100000"/>
              <a:buChar char="•"/>
            </a:pPr>
            <a:r>
              <a:rPr lang="en-US" sz="2200" dirty="0">
                <a:solidFill>
                  <a:srgbClr val="262629"/>
                </a:solidFill>
                <a:latin typeface="Arial" pitchFamily="34" charset="0"/>
                <a:ea typeface="Arial" pitchFamily="34" charset="-122"/>
                <a:cs typeface="Arial" pitchFamily="34" charset="-120"/>
              </a:rPr>
              <a:t>If a long table would be cut off, the model is automatically asked to continue - answers are never silently truncated.</a:t>
            </a:r>
            <a:endParaRPr lang="en-US" sz="3000" dirty="0"/>
          </a:p>
          <a:p>
            <a:pPr marL="279400" indent="-279400" algn="l">
              <a:lnSpc>
                <a:spcPct val="120000"/>
              </a:lnSpc>
              <a:spcAft>
                <a:spcPts val="800"/>
              </a:spcAft>
              <a:buSzPct val="100000"/>
              <a:buChar char="•"/>
            </a:pPr>
            <a:r>
              <a:rPr lang="en-US" sz="2200" dirty="0">
                <a:solidFill>
                  <a:srgbClr val="262629"/>
                </a:solidFill>
                <a:latin typeface="Arial" pitchFamily="34" charset="0"/>
                <a:ea typeface="Arial" pitchFamily="34" charset="-122"/>
                <a:cs typeface="Arial" pitchFamily="34" charset="-120"/>
              </a:rPr>
              <a:t>Each user only ever searches their own documents, and that filter is applied inside both searches, not after them.</a:t>
            </a:r>
            <a:endParaRPr lang="en-US" sz="3000" dirty="0"/>
          </a:p>
        </p:txBody>
      </p:sp>
      <p:sp>
        <p:nvSpPr>
          <p:cNvPr id="25" name="Slide Number Placeholder 0"/>
          <p:cNvSpPr>
            <a:spLocks noGrp="1"/>
          </p:cNvSpPr>
          <p:nvPr>
            <p:ph type="sldNum" sz="quarter" idx="4294967295"/>
          </p:nvPr>
        </p:nvSpPr>
        <p:spPr>
          <a:xfrm>
            <a:off x="20208240" y="12911328"/>
            <a:ext cx="82296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DDF5"/>
                </a:solidFill>
                <a:latin typeface="Arial"/>
                <a:ea typeface="Arial"/>
                <a:cs typeface="Aria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1179576" y="6035040"/>
            <a:ext cx="7315200" cy="914400"/>
          </a:xfrm>
          <a:prstGeom prst="rect">
            <a:avLst/>
          </a:prstGeom>
          <a:noFill/>
          <a:ln/>
        </p:spPr>
        <p:txBody>
          <a:bodyPr wrap="square" lIns="0" tIns="0" rIns="0" bIns="0" rtlCol="0" anchor="ctr"/>
          <a:lstStyle/>
          <a:p>
            <a:pPr marL="0" indent="0">
              <a:buNone/>
            </a:pPr>
            <a:r>
              <a:rPr lang="en-US" sz="3000" b="1" kern="0" spc="400" dirty="0">
                <a:solidFill>
                  <a:srgbClr val="F09286"/>
                </a:solidFill>
                <a:latin typeface="Arial" pitchFamily="34" charset="0"/>
                <a:ea typeface="Arial" pitchFamily="34" charset="-122"/>
                <a:cs typeface="Arial" pitchFamily="34" charset="-120"/>
              </a:rPr>
              <a:t>02</a:t>
            </a:r>
            <a:endParaRPr lang="en-US" sz="3000" dirty="0"/>
          </a:p>
        </p:txBody>
      </p:sp>
      <p:sp>
        <p:nvSpPr>
          <p:cNvPr id="3" name="Text 1"/>
          <p:cNvSpPr txBox="1"/>
          <p:nvPr/>
        </p:nvSpPr>
        <p:spPr>
          <a:xfrm>
            <a:off x="1179576" y="6949440"/>
            <a:ext cx="18288000" cy="2377440"/>
          </a:xfrm>
          <a:prstGeom prst="rect">
            <a:avLst/>
          </a:prstGeom>
          <a:noFill/>
          <a:ln/>
        </p:spPr>
        <p:txBody>
          <a:bodyPr wrap="square" lIns="0" tIns="0" rIns="0" bIns="0" rtlCol="0" anchor="t">
            <a:normAutofit/>
          </a:bodyPr>
          <a:lstStyle/>
          <a:p>
            <a:pPr marL="0" indent="0">
              <a:lnSpc>
                <a:spcPct val="90000"/>
              </a:lnSpc>
              <a:buNone/>
            </a:pPr>
            <a:r>
              <a:rPr lang="en-US" sz="8000" dirty="0">
                <a:solidFill>
                  <a:srgbClr val="FFFFFF"/>
                </a:solidFill>
                <a:latin typeface="Bodoni MT" pitchFamily="34" charset="0"/>
                <a:ea typeface="Bodoni MT" pitchFamily="34" charset="-122"/>
                <a:cs typeface="Bodoni MT" pitchFamily="34" charset="-120"/>
              </a:rPr>
              <a:t>How we </a:t>
            </a:r>
            <a:r>
              <a:rPr lang="en-US" sz="8000" i="1" dirty="0">
                <a:solidFill>
                  <a:srgbClr val="F09286"/>
                </a:solidFill>
                <a:latin typeface="Bodoni MT" pitchFamily="34" charset="0"/>
                <a:ea typeface="Bodoni MT" pitchFamily="34" charset="-122"/>
                <a:cs typeface="Bodoni MT" pitchFamily="34" charset="-120"/>
              </a:rPr>
              <a:t>know</a:t>
            </a:r>
            <a:r>
              <a:rPr lang="en-US" sz="8000" dirty="0">
                <a:solidFill>
                  <a:srgbClr val="FFFFFF"/>
                </a:solidFill>
                <a:latin typeface="Bodoni MT" pitchFamily="34" charset="0"/>
                <a:ea typeface="Bodoni MT" pitchFamily="34" charset="-122"/>
                <a:cs typeface="Bodoni MT" pitchFamily="34" charset="-120"/>
              </a:rPr>
              <a:t> it works</a:t>
            </a:r>
            <a:endParaRPr lang="en-US" sz="8000" dirty="0"/>
          </a:p>
        </p:txBody>
      </p:sp>
      <p:pic>
        <p:nvPicPr>
          <p:cNvPr id="4" name="Image 0" descr="C:\Users\Dell\.claude\skills\synced\eb4eaa5e-fe0b-45c9-9571-743d8da5acee_0850b5be-1ed7-4d2f-80b3-99313ab5efc0\avaali-brand-pptx\assets\brand\red_underline.png"/>
          <p:cNvPicPr>
            <a:picLocks noChangeAspect="1"/>
          </p:cNvPicPr>
          <p:nvPr/>
        </p:nvPicPr>
        <p:blipFill>
          <a:blip r:embed="rId3"/>
          <a:stretch>
            <a:fillRect/>
          </a:stretch>
        </p:blipFill>
        <p:spPr>
          <a:xfrm>
            <a:off x="1216152" y="9555480"/>
            <a:ext cx="2423160" cy="73152"/>
          </a:xfrm>
          <a:prstGeom prst="rect">
            <a:avLst/>
          </a:prstGeom>
        </p:spPr>
      </p:pic>
      <p:sp>
        <p:nvSpPr>
          <p:cNvPr id="5" name="Text 2"/>
          <p:cNvSpPr txBox="1"/>
          <p:nvPr/>
        </p:nvSpPr>
        <p:spPr>
          <a:xfrm>
            <a:off x="1179576" y="9966960"/>
            <a:ext cx="12801600" cy="1645920"/>
          </a:xfrm>
          <a:prstGeom prst="rect">
            <a:avLst/>
          </a:prstGeom>
          <a:noFill/>
          <a:ln/>
        </p:spPr>
        <p:txBody>
          <a:bodyPr wrap="square" lIns="0" tIns="0" rIns="0" bIns="0" rtlCol="0" anchor="t">
            <a:normAutofit/>
          </a:bodyPr>
          <a:lstStyle/>
          <a:p>
            <a:pPr marL="0" indent="0">
              <a:buNone/>
            </a:pPr>
            <a:r>
              <a:rPr lang="en-US" sz="2400" dirty="0">
                <a:solidFill>
                  <a:srgbClr val="E6DDF5"/>
                </a:solidFill>
                <a:latin typeface="Arial" pitchFamily="34" charset="0"/>
                <a:ea typeface="Arial" pitchFamily="34" charset="-122"/>
                <a:cs typeface="Arial" pitchFamily="34" charset="-120"/>
              </a:rPr>
              <a:t>A fixed set of questions with known answers - re-scored on every change.</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12064" y="91440"/>
            <a:ext cx="7406640" cy="1737360"/>
          </a:xfrm>
          <a:prstGeom prst="rect">
            <a:avLst/>
          </a:prstGeom>
          <a:noFill/>
          <a:ln/>
        </p:spPr>
        <p:txBody>
          <a:bodyPr wrap="none" lIns="0" tIns="0" rIns="0" bIns="0" rtlCol="0" anchor="b"/>
          <a:lstStyle/>
          <a:p>
            <a:pPr marL="0" indent="0">
              <a:buNone/>
            </a:pPr>
            <a:r>
              <a:rPr lang="en-US" sz="6000" b="1" dirty="0">
                <a:solidFill>
                  <a:srgbClr val="37205D"/>
                </a:solidFill>
                <a:latin typeface="Bodoni MT" pitchFamily="34" charset="0"/>
                <a:ea typeface="Bodoni MT" pitchFamily="34" charset="-122"/>
                <a:cs typeface="Bodoni MT" pitchFamily="34" charset="-120"/>
              </a:rPr>
              <a:t>The golden set</a:t>
            </a:r>
            <a:endParaRPr lang="en-US" sz="6000" dirty="0"/>
          </a:p>
        </p:txBody>
      </p:sp>
      <p:pic>
        <p:nvPicPr>
          <p:cNvPr id="3" name="Image 0" descr="C:\Users\Dell\.claude\skills\synced\eb4eaa5e-fe0b-45c9-9571-743d8da5acee_0850b5be-1ed7-4d2f-80b3-99313ab5efc0\avaali-brand-pptx\assets\brand\red_underline.png"/>
          <p:cNvPicPr>
            <a:picLocks noChangeAspect="1"/>
          </p:cNvPicPr>
          <p:nvPr/>
        </p:nvPicPr>
        <p:blipFill>
          <a:blip r:embed="rId3"/>
          <a:stretch>
            <a:fillRect/>
          </a:stretch>
        </p:blipFill>
        <p:spPr>
          <a:xfrm>
            <a:off x="530352" y="1847088"/>
            <a:ext cx="2423160" cy="73152"/>
          </a:xfrm>
          <a:prstGeom prst="rect">
            <a:avLst/>
          </a:prstGeom>
        </p:spPr>
      </p:pic>
      <p:sp>
        <p:nvSpPr>
          <p:cNvPr id="4" name="Shape 1"/>
          <p:cNvSpPr/>
          <p:nvPr/>
        </p:nvSpPr>
        <p:spPr>
          <a:xfrm>
            <a:off x="8238744" y="594360"/>
            <a:ext cx="0" cy="960120"/>
          </a:xfrm>
          <a:prstGeom prst="line">
            <a:avLst/>
          </a:prstGeom>
          <a:noFill/>
          <a:ln w="15875">
            <a:solidFill>
              <a:srgbClr val="929292"/>
            </a:solidFill>
            <a:prstDash val="solid"/>
          </a:ln>
        </p:spPr>
        <p:txBody>
          <a:bodyPr/>
          <a:lstStyle/>
          <a:p>
            <a:endParaRPr lang="en-IN"/>
          </a:p>
        </p:txBody>
      </p:sp>
      <p:sp>
        <p:nvSpPr>
          <p:cNvPr id="5" name="Text 2"/>
          <p:cNvSpPr txBox="1"/>
          <p:nvPr/>
        </p:nvSpPr>
        <p:spPr>
          <a:xfrm>
            <a:off x="8513064" y="411480"/>
            <a:ext cx="15505481" cy="1463040"/>
          </a:xfrm>
          <a:prstGeom prst="rect">
            <a:avLst/>
          </a:prstGeom>
          <a:noFill/>
          <a:ln/>
        </p:spPr>
        <p:txBody>
          <a:bodyPr wrap="square" lIns="0" tIns="0" rIns="0" bIns="0" rtlCol="0" anchor="ctr">
            <a:normAutofit/>
          </a:bodyPr>
          <a:lstStyle/>
          <a:p>
            <a:pPr marL="0" indent="0">
              <a:lnSpc>
                <a:spcPct val="115000"/>
              </a:lnSpc>
              <a:buNone/>
            </a:pPr>
            <a:r>
              <a:rPr lang="en-US" sz="2700" dirty="0">
                <a:solidFill>
                  <a:srgbClr val="262629"/>
                </a:solidFill>
                <a:latin typeface="Arial" pitchFamily="34" charset="0"/>
                <a:ea typeface="Arial" pitchFamily="34" charset="-122"/>
                <a:cs typeface="Arial" pitchFamily="34" charset="-120"/>
              </a:rPr>
              <a:t>Real MenaBev contracts, real questions, answers agreed in advance.</a:t>
            </a:r>
            <a:endParaRPr lang="en-US" sz="2700" dirty="0"/>
          </a:p>
        </p:txBody>
      </p:sp>
      <p:sp>
        <p:nvSpPr>
          <p:cNvPr id="6" name="Text 3"/>
          <p:cNvSpPr txBox="1"/>
          <p:nvPr/>
        </p:nvSpPr>
        <p:spPr>
          <a:xfrm>
            <a:off x="1289304" y="12755880"/>
            <a:ext cx="19019520" cy="822960"/>
          </a:xfrm>
          <a:prstGeom prst="rect">
            <a:avLst/>
          </a:prstGeom>
          <a:noFill/>
          <a:ln/>
        </p:spPr>
        <p:txBody>
          <a:bodyPr wrap="square" lIns="0" tIns="0" rIns="0" bIns="0" rtlCol="0" anchor="ctr">
            <a:normAutofit/>
          </a:bodyPr>
          <a:lstStyle/>
          <a:p>
            <a:pPr marL="0" indent="0" algn="ctr">
              <a:buNone/>
            </a:pPr>
            <a:r>
              <a:rPr lang="en-US" sz="2200" dirty="0">
                <a:solidFill>
                  <a:srgbClr val="FFFFFF"/>
                </a:solidFill>
                <a:latin typeface="Bodoni MT" pitchFamily="34" charset="0"/>
                <a:ea typeface="Bodoni MT" pitchFamily="34" charset="-122"/>
                <a:cs typeface="Bodoni MT" pitchFamily="34" charset="-120"/>
              </a:rPr>
              <a:t>One command re-scores the </a:t>
            </a:r>
            <a:r>
              <a:rPr lang="en-US" sz="2200" b="1" dirty="0">
                <a:solidFill>
                  <a:srgbClr val="FF0000"/>
                </a:solidFill>
                <a:latin typeface="Bodoni MT" pitchFamily="34" charset="0"/>
                <a:ea typeface="Bodoni MT" pitchFamily="34" charset="-122"/>
                <a:cs typeface="Bodoni MT" pitchFamily="34" charset="-120"/>
              </a:rPr>
              <a:t>whole system</a:t>
            </a:r>
            <a:r>
              <a:rPr lang="en-US" sz="2200" dirty="0">
                <a:solidFill>
                  <a:srgbClr val="FFFFFF"/>
                </a:solidFill>
                <a:latin typeface="Bodoni MT" pitchFamily="34" charset="0"/>
                <a:ea typeface="Bodoni MT" pitchFamily="34" charset="-122"/>
                <a:cs typeface="Bodoni MT" pitchFamily="34" charset="-120"/>
              </a:rPr>
              <a:t> against the agreed answers</a:t>
            </a:r>
            <a:endParaRPr lang="en-US" sz="2200" dirty="0"/>
          </a:p>
        </p:txBody>
      </p:sp>
      <p:sp>
        <p:nvSpPr>
          <p:cNvPr id="8" name="Shape 4"/>
          <p:cNvSpPr/>
          <p:nvPr/>
        </p:nvSpPr>
        <p:spPr>
          <a:xfrm>
            <a:off x="512064" y="2423160"/>
            <a:ext cx="11475720" cy="4375150"/>
          </a:xfrm>
          <a:prstGeom prst="rect">
            <a:avLst/>
          </a:prstGeom>
          <a:solidFill>
            <a:srgbClr val="E6DDF5"/>
          </a:solidFill>
          <a:ln w="12700">
            <a:solidFill>
              <a:srgbClr val="E6DDF5"/>
            </a:solidFill>
            <a:prstDash val="solid"/>
          </a:ln>
        </p:spPr>
        <p:txBody>
          <a:bodyPr/>
          <a:lstStyle/>
          <a:p>
            <a:endParaRPr lang="en-IN"/>
          </a:p>
        </p:txBody>
      </p:sp>
      <p:sp>
        <p:nvSpPr>
          <p:cNvPr id="9" name="Text 5"/>
          <p:cNvSpPr txBox="1"/>
          <p:nvPr/>
        </p:nvSpPr>
        <p:spPr>
          <a:xfrm>
            <a:off x="832104" y="2697480"/>
            <a:ext cx="10835640" cy="3826510"/>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What is in the set</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15 questions on the real scanned contracts, each with its correct answer agreed up front</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Asked in Arabic, English and Urdu</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Values that exist only inside scanned price tables</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Follow-up questions that only make sense in context - "and the fridges?"</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Cross-language: an Urdu question against an Arabic contract</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One question whose answer is deliberately not in the documents</a:t>
            </a:r>
            <a:endParaRPr lang="en-US" sz="3000" dirty="0"/>
          </a:p>
        </p:txBody>
      </p:sp>
      <p:sp>
        <p:nvSpPr>
          <p:cNvPr id="10" name="Shape 6"/>
          <p:cNvSpPr/>
          <p:nvPr/>
        </p:nvSpPr>
        <p:spPr>
          <a:xfrm>
            <a:off x="12399264" y="2423160"/>
            <a:ext cx="11475720" cy="4375150"/>
          </a:xfrm>
          <a:prstGeom prst="rect">
            <a:avLst/>
          </a:prstGeom>
          <a:solidFill>
            <a:srgbClr val="FCEDD7"/>
          </a:solidFill>
          <a:ln w="12700">
            <a:solidFill>
              <a:srgbClr val="FCEDD7"/>
            </a:solidFill>
            <a:prstDash val="solid"/>
          </a:ln>
        </p:spPr>
        <p:txBody>
          <a:bodyPr/>
          <a:lstStyle/>
          <a:p>
            <a:endParaRPr lang="en-IN"/>
          </a:p>
        </p:txBody>
      </p:sp>
      <p:sp>
        <p:nvSpPr>
          <p:cNvPr id="11" name="Text 7"/>
          <p:cNvSpPr txBox="1"/>
          <p:nvPr/>
        </p:nvSpPr>
        <p:spPr>
          <a:xfrm>
            <a:off x="12719304" y="2697480"/>
            <a:ext cx="10835640" cy="3826510"/>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What is scored, automatically</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Did the answer contain the correct facts?</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Was it written in the language of the question?</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Did the built-in checker flag any date, number or citation?</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How long until the first words appeared?</a:t>
            </a:r>
            <a:endParaRPr lang="en-US" sz="3000" dirty="0"/>
          </a:p>
          <a:p>
            <a:pPr marL="279400" indent="-279400" algn="l">
              <a:lnSpc>
                <a:spcPct val="120000"/>
              </a:lnSpc>
              <a:spcAft>
                <a:spcPts val="800"/>
              </a:spcAft>
              <a:buSzPct val="100000"/>
              <a:buChar char="•"/>
            </a:pPr>
            <a:r>
              <a:rPr lang="en-US" sz="2100" dirty="0">
                <a:solidFill>
                  <a:srgbClr val="262629"/>
                </a:solidFill>
                <a:latin typeface="Arial" pitchFamily="34" charset="0"/>
                <a:ea typeface="Arial" pitchFamily="34" charset="-122"/>
                <a:cs typeface="Arial" pitchFamily="34" charset="-120"/>
              </a:rPr>
              <a:t>The whole run is a single command, so every change is re-measured rather than argued about</a:t>
            </a:r>
            <a:endParaRPr lang="en-US" sz="3000" dirty="0"/>
          </a:p>
        </p:txBody>
      </p:sp>
      <p:sp>
        <p:nvSpPr>
          <p:cNvPr id="25" name="Slide Number Placeholder 0"/>
          <p:cNvSpPr>
            <a:spLocks noGrp="1"/>
          </p:cNvSpPr>
          <p:nvPr>
            <p:ph type="sldNum" sz="quarter" idx="4294967295"/>
          </p:nvPr>
        </p:nvSpPr>
        <p:spPr>
          <a:xfrm>
            <a:off x="20208240" y="12911328"/>
            <a:ext cx="82296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DDF5"/>
                </a:solidFill>
                <a:latin typeface="Arial"/>
                <a:ea typeface="Arial"/>
                <a:cs typeface="Aria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Dell\.claude\skills\synced\eb4eaa5e-fe0b-45c9-9571-743d8da5acee_0850b5be-1ed7-4d2f-80b3-99313ab5efc0\avaali-brand-pptx\assets\backgrounds\corner_circles_peach.png"/>
          <p:cNvPicPr>
            <a:picLocks noChangeAspect="1"/>
          </p:cNvPicPr>
          <p:nvPr/>
        </p:nvPicPr>
        <p:blipFill>
          <a:blip r:embed="rId3"/>
          <a:stretch>
            <a:fillRect/>
          </a:stretch>
        </p:blipFill>
        <p:spPr>
          <a:xfrm>
            <a:off x="13380264" y="1325880"/>
            <a:ext cx="11049761" cy="11301984"/>
          </a:xfrm>
          <a:prstGeom prst="rect">
            <a:avLst/>
          </a:prstGeom>
        </p:spPr>
      </p:pic>
      <p:sp>
        <p:nvSpPr>
          <p:cNvPr id="3" name="Text 0"/>
          <p:cNvSpPr txBox="1"/>
          <p:nvPr/>
        </p:nvSpPr>
        <p:spPr>
          <a:xfrm>
            <a:off x="512064" y="91440"/>
            <a:ext cx="7406640" cy="1737360"/>
          </a:xfrm>
          <a:prstGeom prst="rect">
            <a:avLst/>
          </a:prstGeom>
          <a:noFill/>
          <a:ln/>
        </p:spPr>
        <p:txBody>
          <a:bodyPr wrap="none" lIns="0" tIns="0" rIns="0" bIns="0" rtlCol="0" anchor="b"/>
          <a:lstStyle/>
          <a:p>
            <a:pPr marL="0" indent="0">
              <a:buNone/>
            </a:pPr>
            <a:r>
              <a:rPr lang="en-US" sz="6000" b="1" dirty="0">
                <a:solidFill>
                  <a:srgbClr val="37205D"/>
                </a:solidFill>
                <a:latin typeface="Bodoni MT" pitchFamily="34" charset="0"/>
                <a:ea typeface="Bodoni MT" pitchFamily="34" charset="-122"/>
                <a:cs typeface="Bodoni MT" pitchFamily="34" charset="-120"/>
              </a:rPr>
              <a:t>Where we stand</a:t>
            </a:r>
            <a:endParaRPr lang="en-US" sz="6000" dirty="0"/>
          </a:p>
        </p:txBody>
      </p:sp>
      <p:pic>
        <p:nvPicPr>
          <p:cNvPr id="4" name="Image 1" descr="C:\Users\Dell\.claude\skills\synced\eb4eaa5e-fe0b-45c9-9571-743d8da5acee_0850b5be-1ed7-4d2f-80b3-99313ab5efc0\avaali-brand-pptx\assets\brand\red_underline.png"/>
          <p:cNvPicPr>
            <a:picLocks noChangeAspect="1"/>
          </p:cNvPicPr>
          <p:nvPr/>
        </p:nvPicPr>
        <p:blipFill>
          <a:blip r:embed="rId4"/>
          <a:stretch>
            <a:fillRect/>
          </a:stretch>
        </p:blipFill>
        <p:spPr>
          <a:xfrm>
            <a:off x="530352" y="1847088"/>
            <a:ext cx="2423160" cy="73152"/>
          </a:xfrm>
          <a:prstGeom prst="rect">
            <a:avLst/>
          </a:prstGeom>
        </p:spPr>
      </p:pic>
      <p:sp>
        <p:nvSpPr>
          <p:cNvPr id="5" name="Shape 1"/>
          <p:cNvSpPr/>
          <p:nvPr/>
        </p:nvSpPr>
        <p:spPr>
          <a:xfrm>
            <a:off x="8238744" y="594360"/>
            <a:ext cx="0" cy="960120"/>
          </a:xfrm>
          <a:prstGeom prst="line">
            <a:avLst/>
          </a:prstGeom>
          <a:noFill/>
          <a:ln w="15875">
            <a:solidFill>
              <a:srgbClr val="929292"/>
            </a:solidFill>
            <a:prstDash val="solid"/>
          </a:ln>
        </p:spPr>
        <p:txBody>
          <a:bodyPr/>
          <a:lstStyle/>
          <a:p>
            <a:endParaRPr lang="en-IN"/>
          </a:p>
        </p:txBody>
      </p:sp>
      <p:sp>
        <p:nvSpPr>
          <p:cNvPr id="6" name="Text 2"/>
          <p:cNvSpPr txBox="1"/>
          <p:nvPr/>
        </p:nvSpPr>
        <p:spPr>
          <a:xfrm>
            <a:off x="8513064" y="411480"/>
            <a:ext cx="15505481" cy="1463040"/>
          </a:xfrm>
          <a:prstGeom prst="rect">
            <a:avLst/>
          </a:prstGeom>
          <a:noFill/>
          <a:ln/>
        </p:spPr>
        <p:txBody>
          <a:bodyPr wrap="square" lIns="0" tIns="0" rIns="0" bIns="0" rtlCol="0" anchor="ctr">
            <a:normAutofit/>
          </a:bodyPr>
          <a:lstStyle/>
          <a:p>
            <a:pPr marL="0" indent="0">
              <a:lnSpc>
                <a:spcPct val="115000"/>
              </a:lnSpc>
              <a:buNone/>
            </a:pPr>
            <a:r>
              <a:rPr lang="en-US" sz="2700" dirty="0">
                <a:solidFill>
                  <a:srgbClr val="262629"/>
                </a:solidFill>
                <a:latin typeface="Arial" pitchFamily="34" charset="0"/>
                <a:ea typeface="Arial" pitchFamily="34" charset="-122"/>
                <a:cs typeface="Arial" pitchFamily="34" charset="-120"/>
              </a:rPr>
              <a:t>Measured on the pilot set - four scanned bilingual contracts, 35 pages.</a:t>
            </a:r>
            <a:endParaRPr lang="en-US" sz="2700" dirty="0"/>
          </a:p>
        </p:txBody>
      </p:sp>
      <p:sp>
        <p:nvSpPr>
          <p:cNvPr id="7" name="Text 3"/>
          <p:cNvSpPr txBox="1"/>
          <p:nvPr/>
        </p:nvSpPr>
        <p:spPr>
          <a:xfrm>
            <a:off x="1289304" y="12755880"/>
            <a:ext cx="19019520" cy="822960"/>
          </a:xfrm>
          <a:prstGeom prst="rect">
            <a:avLst/>
          </a:prstGeom>
          <a:noFill/>
          <a:ln/>
        </p:spPr>
        <p:txBody>
          <a:bodyPr wrap="square" lIns="0" tIns="0" rIns="0" bIns="0" rtlCol="0" anchor="ctr">
            <a:normAutofit/>
          </a:bodyPr>
          <a:lstStyle/>
          <a:p>
            <a:pPr marL="0" indent="0" algn="ctr">
              <a:buNone/>
            </a:pPr>
            <a:r>
              <a:rPr lang="en-US" sz="2200" dirty="0">
                <a:solidFill>
                  <a:srgbClr val="FFFFFF"/>
                </a:solidFill>
                <a:latin typeface="Bodoni MT" pitchFamily="34" charset="0"/>
                <a:ea typeface="Bodoni MT" pitchFamily="34" charset="-122"/>
                <a:cs typeface="Bodoni MT" pitchFamily="34" charset="-120"/>
              </a:rPr>
              <a:t>All benchmark questions answered correctly in </a:t>
            </a:r>
            <a:r>
              <a:rPr lang="en-US" sz="2200" b="1" dirty="0">
                <a:solidFill>
                  <a:srgbClr val="FF0000"/>
                </a:solidFill>
                <a:latin typeface="Bodoni MT" pitchFamily="34" charset="0"/>
                <a:ea typeface="Bodoni MT" pitchFamily="34" charset="-122"/>
                <a:cs typeface="Bodoni MT" pitchFamily="34" charset="-120"/>
              </a:rPr>
              <a:t>Arabic, English and Urdu</a:t>
            </a:r>
            <a:endParaRPr lang="en-US" sz="2200" dirty="0"/>
          </a:p>
        </p:txBody>
      </p:sp>
      <p:sp>
        <p:nvSpPr>
          <p:cNvPr id="9" name="Text 4"/>
          <p:cNvSpPr txBox="1"/>
          <p:nvPr/>
        </p:nvSpPr>
        <p:spPr>
          <a:xfrm>
            <a:off x="512064" y="2606040"/>
            <a:ext cx="3520440" cy="1737360"/>
          </a:xfrm>
          <a:prstGeom prst="rect">
            <a:avLst/>
          </a:prstGeom>
          <a:noFill/>
          <a:ln/>
        </p:spPr>
        <p:txBody>
          <a:bodyPr wrap="square" lIns="0" tIns="0" rIns="0" bIns="0" rtlCol="0" anchor="b">
            <a:normAutofit/>
          </a:bodyPr>
          <a:lstStyle/>
          <a:p>
            <a:pPr marL="0" indent="0">
              <a:buNone/>
            </a:pPr>
            <a:r>
              <a:rPr lang="en-US" sz="9600" dirty="0">
                <a:solidFill>
                  <a:srgbClr val="37205D"/>
                </a:solidFill>
                <a:latin typeface="Bodoni MT" pitchFamily="34" charset="0"/>
                <a:ea typeface="Bodoni MT" pitchFamily="34" charset="-122"/>
                <a:cs typeface="Bodoni MT" pitchFamily="34" charset="-120"/>
              </a:rPr>
              <a:t>15/15</a:t>
            </a:r>
            <a:endParaRPr lang="en-US" sz="9600" dirty="0"/>
          </a:p>
        </p:txBody>
      </p:sp>
      <p:pic>
        <p:nvPicPr>
          <p:cNvPr id="10" name="Image 2" descr="C:\Users\Dell\.claude\skills\synced\eb4eaa5e-fe0b-45c9-9571-743d8da5acee_0850b5be-1ed7-4d2f-80b3-99313ab5efc0\avaali-brand-pptx\assets\brand\red_underline.png"/>
          <p:cNvPicPr>
            <a:picLocks noChangeAspect="1"/>
          </p:cNvPicPr>
          <p:nvPr/>
        </p:nvPicPr>
        <p:blipFill>
          <a:blip r:embed="rId4"/>
          <a:stretch>
            <a:fillRect/>
          </a:stretch>
        </p:blipFill>
        <p:spPr>
          <a:xfrm>
            <a:off x="539496" y="4434840"/>
            <a:ext cx="1463040" cy="73152"/>
          </a:xfrm>
          <a:prstGeom prst="rect">
            <a:avLst/>
          </a:prstGeom>
        </p:spPr>
      </p:pic>
      <p:sp>
        <p:nvSpPr>
          <p:cNvPr id="11" name="Text 5"/>
          <p:cNvSpPr txBox="1"/>
          <p:nvPr/>
        </p:nvSpPr>
        <p:spPr>
          <a:xfrm>
            <a:off x="512064" y="4663440"/>
            <a:ext cx="3520440" cy="1188720"/>
          </a:xfrm>
          <a:prstGeom prst="rect">
            <a:avLst/>
          </a:prstGeom>
          <a:noFill/>
          <a:ln/>
        </p:spPr>
        <p:txBody>
          <a:bodyPr wrap="square" lIns="0" tIns="0" rIns="0" bIns="0" rtlCol="0" anchor="t">
            <a:normAutofit/>
          </a:bodyPr>
          <a:lstStyle/>
          <a:p>
            <a:pPr marL="0" indent="0">
              <a:buNone/>
            </a:pPr>
            <a:r>
              <a:rPr lang="en-US" sz="2200" dirty="0">
                <a:solidFill>
                  <a:srgbClr val="262629"/>
                </a:solidFill>
                <a:latin typeface="Arial" pitchFamily="34" charset="0"/>
                <a:ea typeface="Arial" pitchFamily="34" charset="-122"/>
                <a:cs typeface="Arial" pitchFamily="34" charset="-120"/>
              </a:rPr>
              <a:t>benchmark questions answered correctly, across three languages</a:t>
            </a:r>
            <a:endParaRPr lang="en-US" sz="2200" dirty="0"/>
          </a:p>
        </p:txBody>
      </p:sp>
      <p:sp>
        <p:nvSpPr>
          <p:cNvPr id="12" name="Text 6"/>
          <p:cNvSpPr txBox="1"/>
          <p:nvPr/>
        </p:nvSpPr>
        <p:spPr>
          <a:xfrm>
            <a:off x="4398264" y="2606040"/>
            <a:ext cx="3520440" cy="1737360"/>
          </a:xfrm>
          <a:prstGeom prst="rect">
            <a:avLst/>
          </a:prstGeom>
          <a:noFill/>
          <a:ln/>
        </p:spPr>
        <p:txBody>
          <a:bodyPr wrap="square" lIns="0" tIns="0" rIns="0" bIns="0" rtlCol="0" anchor="b">
            <a:normAutofit/>
          </a:bodyPr>
          <a:lstStyle/>
          <a:p>
            <a:pPr marL="0" indent="0">
              <a:buNone/>
            </a:pPr>
            <a:r>
              <a:rPr lang="en-US" sz="9600" dirty="0">
                <a:solidFill>
                  <a:srgbClr val="37205D"/>
                </a:solidFill>
                <a:latin typeface="Bodoni MT" pitchFamily="34" charset="0"/>
                <a:ea typeface="Bodoni MT" pitchFamily="34" charset="-122"/>
                <a:cs typeface="Bodoni MT" pitchFamily="34" charset="-120"/>
              </a:rPr>
              <a:t>13/13</a:t>
            </a:r>
            <a:endParaRPr lang="en-US" sz="9600" dirty="0"/>
          </a:p>
        </p:txBody>
      </p:sp>
      <p:pic>
        <p:nvPicPr>
          <p:cNvPr id="13" name="Image 3" descr="C:\Users\Dell\.claude\skills\synced\eb4eaa5e-fe0b-45c9-9571-743d8da5acee_0850b5be-1ed7-4d2f-80b3-99313ab5efc0\avaali-brand-pptx\assets\brand\red_underline.png"/>
          <p:cNvPicPr>
            <a:picLocks noChangeAspect="1"/>
          </p:cNvPicPr>
          <p:nvPr/>
        </p:nvPicPr>
        <p:blipFill>
          <a:blip r:embed="rId4"/>
          <a:stretch>
            <a:fillRect/>
          </a:stretch>
        </p:blipFill>
        <p:spPr>
          <a:xfrm>
            <a:off x="4425696" y="4434840"/>
            <a:ext cx="1463040" cy="73152"/>
          </a:xfrm>
          <a:prstGeom prst="rect">
            <a:avLst/>
          </a:prstGeom>
        </p:spPr>
      </p:pic>
      <p:sp>
        <p:nvSpPr>
          <p:cNvPr id="14" name="Text 7"/>
          <p:cNvSpPr txBox="1"/>
          <p:nvPr/>
        </p:nvSpPr>
        <p:spPr>
          <a:xfrm>
            <a:off x="4398264" y="4663440"/>
            <a:ext cx="3520440" cy="1188720"/>
          </a:xfrm>
          <a:prstGeom prst="rect">
            <a:avLst/>
          </a:prstGeom>
          <a:noFill/>
          <a:ln/>
        </p:spPr>
        <p:txBody>
          <a:bodyPr wrap="square" lIns="0" tIns="0" rIns="0" bIns="0" rtlCol="0" anchor="t">
            <a:normAutofit/>
          </a:bodyPr>
          <a:lstStyle/>
          <a:p>
            <a:pPr marL="0" indent="0">
              <a:buNone/>
            </a:pPr>
            <a:r>
              <a:rPr lang="en-US" sz="2200" dirty="0">
                <a:solidFill>
                  <a:srgbClr val="262629"/>
                </a:solidFill>
                <a:latin typeface="Arial" pitchFamily="34" charset="0"/>
                <a:ea typeface="Arial" pitchFamily="34" charset="-122"/>
                <a:cs typeface="Arial" pitchFamily="34" charset="-120"/>
              </a:rPr>
              <a:t>key terms read correctly from scanned pages and tables</a:t>
            </a:r>
            <a:endParaRPr lang="en-US" sz="2200" dirty="0"/>
          </a:p>
        </p:txBody>
      </p:sp>
      <p:sp>
        <p:nvSpPr>
          <p:cNvPr id="15" name="Text 8"/>
          <p:cNvSpPr txBox="1"/>
          <p:nvPr/>
        </p:nvSpPr>
        <p:spPr>
          <a:xfrm>
            <a:off x="8284464" y="2606040"/>
            <a:ext cx="3520440" cy="1737360"/>
          </a:xfrm>
          <a:prstGeom prst="rect">
            <a:avLst/>
          </a:prstGeom>
          <a:noFill/>
          <a:ln/>
        </p:spPr>
        <p:txBody>
          <a:bodyPr wrap="square" lIns="0" tIns="0" rIns="0" bIns="0" rtlCol="0" anchor="b">
            <a:normAutofit/>
          </a:bodyPr>
          <a:lstStyle/>
          <a:p>
            <a:pPr marL="0" indent="0">
              <a:buNone/>
            </a:pPr>
            <a:r>
              <a:rPr lang="en-US" sz="9600" dirty="0">
                <a:solidFill>
                  <a:srgbClr val="37205D"/>
                </a:solidFill>
                <a:latin typeface="Bodoni MT" pitchFamily="34" charset="0"/>
                <a:ea typeface="Bodoni MT" pitchFamily="34" charset="-122"/>
                <a:cs typeface="Bodoni MT" pitchFamily="34" charset="-120"/>
              </a:rPr>
              <a:t>~1s</a:t>
            </a:r>
            <a:endParaRPr lang="en-US" sz="9600" dirty="0"/>
          </a:p>
        </p:txBody>
      </p:sp>
      <p:pic>
        <p:nvPicPr>
          <p:cNvPr id="16" name="Image 4" descr="C:\Users\Dell\.claude\skills\synced\eb4eaa5e-fe0b-45c9-9571-743d8da5acee_0850b5be-1ed7-4d2f-80b3-99313ab5efc0\avaali-brand-pptx\assets\brand\red_underline.png"/>
          <p:cNvPicPr>
            <a:picLocks noChangeAspect="1"/>
          </p:cNvPicPr>
          <p:nvPr/>
        </p:nvPicPr>
        <p:blipFill>
          <a:blip r:embed="rId4"/>
          <a:stretch>
            <a:fillRect/>
          </a:stretch>
        </p:blipFill>
        <p:spPr>
          <a:xfrm>
            <a:off x="8311896" y="4434840"/>
            <a:ext cx="1463040" cy="73152"/>
          </a:xfrm>
          <a:prstGeom prst="rect">
            <a:avLst/>
          </a:prstGeom>
        </p:spPr>
      </p:pic>
      <p:sp>
        <p:nvSpPr>
          <p:cNvPr id="17" name="Text 9"/>
          <p:cNvSpPr txBox="1"/>
          <p:nvPr/>
        </p:nvSpPr>
        <p:spPr>
          <a:xfrm>
            <a:off x="8284464" y="4663440"/>
            <a:ext cx="3520440" cy="1188720"/>
          </a:xfrm>
          <a:prstGeom prst="rect">
            <a:avLst/>
          </a:prstGeom>
          <a:noFill/>
          <a:ln/>
        </p:spPr>
        <p:txBody>
          <a:bodyPr wrap="square" lIns="0" tIns="0" rIns="0" bIns="0" rtlCol="0" anchor="t">
            <a:normAutofit/>
          </a:bodyPr>
          <a:lstStyle/>
          <a:p>
            <a:pPr marL="0" indent="0">
              <a:buNone/>
            </a:pPr>
            <a:r>
              <a:rPr lang="en-US" sz="2200" dirty="0">
                <a:solidFill>
                  <a:srgbClr val="262629"/>
                </a:solidFill>
                <a:latin typeface="Arial" pitchFamily="34" charset="0"/>
                <a:ea typeface="Arial" pitchFamily="34" charset="-122"/>
                <a:cs typeface="Arial" pitchFamily="34" charset="-120"/>
              </a:rPr>
              <a:t>to show the sources behind an answer</a:t>
            </a:r>
            <a:endParaRPr lang="en-US" sz="2200" dirty="0"/>
          </a:p>
        </p:txBody>
      </p:sp>
      <p:sp>
        <p:nvSpPr>
          <p:cNvPr id="18" name="Text 10"/>
          <p:cNvSpPr txBox="1"/>
          <p:nvPr/>
        </p:nvSpPr>
        <p:spPr>
          <a:xfrm>
            <a:off x="12170664" y="2606040"/>
            <a:ext cx="3520440" cy="1737360"/>
          </a:xfrm>
          <a:prstGeom prst="rect">
            <a:avLst/>
          </a:prstGeom>
          <a:noFill/>
          <a:ln/>
        </p:spPr>
        <p:txBody>
          <a:bodyPr wrap="square" lIns="0" tIns="0" rIns="0" bIns="0" rtlCol="0" anchor="b">
            <a:normAutofit/>
          </a:bodyPr>
          <a:lstStyle/>
          <a:p>
            <a:pPr marL="0" indent="0">
              <a:buNone/>
            </a:pPr>
            <a:r>
              <a:rPr lang="en-US" sz="9600" dirty="0">
                <a:solidFill>
                  <a:srgbClr val="37205D"/>
                </a:solidFill>
                <a:latin typeface="Bodoni MT" pitchFamily="34" charset="0"/>
                <a:ea typeface="Bodoni MT" pitchFamily="34" charset="-122"/>
                <a:cs typeface="Bodoni MT" pitchFamily="34" charset="-120"/>
              </a:rPr>
              <a:t>3-5s</a:t>
            </a:r>
            <a:endParaRPr lang="en-US" sz="9600" dirty="0"/>
          </a:p>
        </p:txBody>
      </p:sp>
      <p:pic>
        <p:nvPicPr>
          <p:cNvPr id="19" name="Image 5" descr="C:\Users\Dell\.claude\skills\synced\eb4eaa5e-fe0b-45c9-9571-743d8da5acee_0850b5be-1ed7-4d2f-80b3-99313ab5efc0\avaali-brand-pptx\assets\brand\red_underline.png"/>
          <p:cNvPicPr>
            <a:picLocks noChangeAspect="1"/>
          </p:cNvPicPr>
          <p:nvPr/>
        </p:nvPicPr>
        <p:blipFill>
          <a:blip r:embed="rId4"/>
          <a:stretch>
            <a:fillRect/>
          </a:stretch>
        </p:blipFill>
        <p:spPr>
          <a:xfrm>
            <a:off x="12198096" y="4434840"/>
            <a:ext cx="1463040" cy="73152"/>
          </a:xfrm>
          <a:prstGeom prst="rect">
            <a:avLst/>
          </a:prstGeom>
        </p:spPr>
      </p:pic>
      <p:sp>
        <p:nvSpPr>
          <p:cNvPr id="20" name="Text 11"/>
          <p:cNvSpPr txBox="1"/>
          <p:nvPr/>
        </p:nvSpPr>
        <p:spPr>
          <a:xfrm>
            <a:off x="12170664" y="4663440"/>
            <a:ext cx="3520440" cy="1188720"/>
          </a:xfrm>
          <a:prstGeom prst="rect">
            <a:avLst/>
          </a:prstGeom>
          <a:noFill/>
          <a:ln/>
        </p:spPr>
        <p:txBody>
          <a:bodyPr wrap="square" lIns="0" tIns="0" rIns="0" bIns="0" rtlCol="0" anchor="t">
            <a:normAutofit/>
          </a:bodyPr>
          <a:lstStyle/>
          <a:p>
            <a:pPr marL="0" indent="0">
              <a:buNone/>
            </a:pPr>
            <a:r>
              <a:rPr lang="en-US" sz="2200" dirty="0">
                <a:solidFill>
                  <a:srgbClr val="262629"/>
                </a:solidFill>
                <a:latin typeface="Arial" pitchFamily="34" charset="0"/>
                <a:ea typeface="Arial" pitchFamily="34" charset="-122"/>
                <a:cs typeface="Arial" pitchFamily="34" charset="-120"/>
              </a:rPr>
              <a:t>to the first words of the answer</a:t>
            </a:r>
            <a:endParaRPr lang="en-US" sz="2200" dirty="0"/>
          </a:p>
        </p:txBody>
      </p:sp>
      <p:sp>
        <p:nvSpPr>
          <p:cNvPr id="21" name="Shape 12"/>
          <p:cNvSpPr/>
          <p:nvPr/>
        </p:nvSpPr>
        <p:spPr>
          <a:xfrm>
            <a:off x="512064" y="8001000"/>
            <a:ext cx="12710160" cy="2326772"/>
          </a:xfrm>
          <a:prstGeom prst="rect">
            <a:avLst/>
          </a:prstGeom>
          <a:solidFill>
            <a:srgbClr val="E6DDF5"/>
          </a:solidFill>
          <a:ln w="12700">
            <a:solidFill>
              <a:srgbClr val="E6DDF5"/>
            </a:solidFill>
            <a:prstDash val="solid"/>
          </a:ln>
        </p:spPr>
        <p:txBody>
          <a:bodyPr/>
          <a:lstStyle/>
          <a:p>
            <a:endParaRPr lang="en-IN"/>
          </a:p>
        </p:txBody>
      </p:sp>
      <p:sp>
        <p:nvSpPr>
          <p:cNvPr id="22" name="Text 13"/>
          <p:cNvSpPr txBox="1"/>
          <p:nvPr/>
        </p:nvSpPr>
        <p:spPr>
          <a:xfrm>
            <a:off x="832104" y="8275320"/>
            <a:ext cx="12070080" cy="1778132"/>
          </a:xfrm>
          <a:prstGeom prst="rect">
            <a:avLst/>
          </a:prstGeom>
          <a:noFill/>
          <a:ln/>
        </p:spPr>
        <p:txBody>
          <a:bodyPr wrap="square" lIns="0" tIns="0" rIns="0" bIns="0" rtlCol="0" anchor="t">
            <a:normAutofit/>
          </a:bodyPr>
          <a:lstStyle/>
          <a:p>
            <a:pPr marL="0" indent="0" algn="l">
              <a:lnSpc>
                <a:spcPct val="120000"/>
              </a:lnSpc>
              <a:spcAft>
                <a:spcPts val="1000"/>
              </a:spcAft>
              <a:buNone/>
            </a:pPr>
            <a:r>
              <a:rPr lang="en-US" sz="3000" b="1" dirty="0">
                <a:solidFill>
                  <a:srgbClr val="2F1757"/>
                </a:solidFill>
                <a:latin typeface="Arial" pitchFamily="34" charset="0"/>
                <a:ea typeface="Arial" pitchFamily="34" charset="-122"/>
                <a:cs typeface="Arial" pitchFamily="34" charset="-120"/>
              </a:rPr>
              <a:t>Ingestion</a:t>
            </a:r>
            <a:endParaRPr lang="en-US" sz="3000" dirty="0"/>
          </a:p>
          <a:p>
            <a:pPr marL="0" indent="0" algn="l">
              <a:lnSpc>
                <a:spcPct val="120000"/>
              </a:lnSpc>
              <a:buNone/>
            </a:pPr>
            <a:r>
              <a:rPr lang="en-US" sz="2100" dirty="0">
                <a:solidFill>
                  <a:srgbClr val="262629"/>
                </a:solidFill>
                <a:latin typeface="Arial" pitchFamily="34" charset="0"/>
                <a:ea typeface="Arial" pitchFamily="34" charset="-122"/>
                <a:cs typeface="Arial" pitchFamily="34" charset="-120"/>
              </a:rPr>
              <a:t>About 2.5 to 3 seconds per scanned page, end to end - reading, organising and indexing. An 8-page contract is ready to question in roughly 20 seconds, and a large document never freezes the browser.</a:t>
            </a:r>
            <a:endParaRPr lang="en-US" sz="3000" dirty="0"/>
          </a:p>
        </p:txBody>
      </p:sp>
      <p:sp>
        <p:nvSpPr>
          <p:cNvPr id="25" name="Slide Number Placeholder 0"/>
          <p:cNvSpPr>
            <a:spLocks noGrp="1"/>
          </p:cNvSpPr>
          <p:nvPr>
            <p:ph type="sldNum" sz="quarter" idx="4294967295"/>
          </p:nvPr>
        </p:nvSpPr>
        <p:spPr>
          <a:xfrm>
            <a:off x="20208240" y="12911328"/>
            <a:ext cx="82296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DDF5"/>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12064" y="91440"/>
            <a:ext cx="10927080" cy="1737360"/>
          </a:xfrm>
          <a:prstGeom prst="rect">
            <a:avLst/>
          </a:prstGeom>
          <a:noFill/>
          <a:ln/>
        </p:spPr>
        <p:txBody>
          <a:bodyPr wrap="none" lIns="0" tIns="0" rIns="0" bIns="0" rtlCol="0" anchor="b"/>
          <a:lstStyle/>
          <a:p>
            <a:pPr marL="0" indent="0">
              <a:buNone/>
            </a:pPr>
            <a:r>
              <a:rPr lang="en-US" sz="6000" b="1" dirty="0">
                <a:solidFill>
                  <a:srgbClr val="37205D"/>
                </a:solidFill>
                <a:latin typeface="Bodoni MT" pitchFamily="34" charset="0"/>
                <a:ea typeface="Bodoni MT" pitchFamily="34" charset="-122"/>
                <a:cs typeface="Bodoni MT" pitchFamily="34" charset="-120"/>
              </a:rPr>
              <a:t>Why not off the shelf</a:t>
            </a:r>
            <a:endParaRPr lang="en-US" sz="6000" dirty="0"/>
          </a:p>
        </p:txBody>
      </p:sp>
      <p:pic>
        <p:nvPicPr>
          <p:cNvPr id="3" name="Image 0" descr="C:\Users\Dell\.claude\skills\synced\eb4eaa5e-fe0b-45c9-9571-743d8da5acee_0850b5be-1ed7-4d2f-80b3-99313ab5efc0\avaali-brand-pptx\assets\brand\red_underline.png"/>
          <p:cNvPicPr>
            <a:picLocks noChangeAspect="1"/>
          </p:cNvPicPr>
          <p:nvPr/>
        </p:nvPicPr>
        <p:blipFill>
          <a:blip r:embed="rId3"/>
          <a:stretch>
            <a:fillRect/>
          </a:stretch>
        </p:blipFill>
        <p:spPr>
          <a:xfrm>
            <a:off x="530352" y="1847088"/>
            <a:ext cx="2423160" cy="73152"/>
          </a:xfrm>
          <a:prstGeom prst="rect">
            <a:avLst/>
          </a:prstGeom>
        </p:spPr>
      </p:pic>
      <p:sp>
        <p:nvSpPr>
          <p:cNvPr id="4" name="Shape 1"/>
          <p:cNvSpPr/>
          <p:nvPr/>
        </p:nvSpPr>
        <p:spPr>
          <a:xfrm>
            <a:off x="11759184" y="594360"/>
            <a:ext cx="0" cy="960120"/>
          </a:xfrm>
          <a:prstGeom prst="line">
            <a:avLst/>
          </a:prstGeom>
          <a:noFill/>
          <a:ln w="15875">
            <a:solidFill>
              <a:srgbClr val="929292"/>
            </a:solidFill>
            <a:prstDash val="solid"/>
          </a:ln>
        </p:spPr>
        <p:txBody>
          <a:bodyPr/>
          <a:lstStyle/>
          <a:p>
            <a:endParaRPr lang="en-IN"/>
          </a:p>
        </p:txBody>
      </p:sp>
      <p:sp>
        <p:nvSpPr>
          <p:cNvPr id="5" name="Text 2"/>
          <p:cNvSpPr txBox="1"/>
          <p:nvPr/>
        </p:nvSpPr>
        <p:spPr>
          <a:xfrm>
            <a:off x="12033504" y="411480"/>
            <a:ext cx="11985041" cy="1463040"/>
          </a:xfrm>
          <a:prstGeom prst="rect">
            <a:avLst/>
          </a:prstGeom>
          <a:noFill/>
          <a:ln/>
        </p:spPr>
        <p:txBody>
          <a:bodyPr wrap="square" lIns="0" tIns="0" rIns="0" bIns="0" rtlCol="0" anchor="ctr">
            <a:normAutofit/>
          </a:bodyPr>
          <a:lstStyle/>
          <a:p>
            <a:pPr marL="0" indent="0">
              <a:lnSpc>
                <a:spcPct val="115000"/>
              </a:lnSpc>
              <a:buNone/>
            </a:pPr>
            <a:r>
              <a:rPr lang="en-US" sz="2700" dirty="0">
                <a:solidFill>
                  <a:srgbClr val="262629"/>
                </a:solidFill>
                <a:latin typeface="Arial" pitchFamily="34" charset="0"/>
                <a:ea typeface="Arial" pitchFamily="34" charset="-122"/>
                <a:cs typeface="Arial" pitchFamily="34" charset="-120"/>
              </a:rPr>
              <a:t>The same seven questions, asked of a generic document-AI tool and of ours.</a:t>
            </a:r>
            <a:endParaRPr lang="en-US" sz="2700" dirty="0"/>
          </a:p>
        </p:txBody>
      </p:sp>
      <p:sp>
        <p:nvSpPr>
          <p:cNvPr id="6" name="Text 3"/>
          <p:cNvSpPr txBox="1"/>
          <p:nvPr/>
        </p:nvSpPr>
        <p:spPr>
          <a:xfrm>
            <a:off x="1289304" y="12755880"/>
            <a:ext cx="19019520" cy="822960"/>
          </a:xfrm>
          <a:prstGeom prst="rect">
            <a:avLst/>
          </a:prstGeom>
          <a:noFill/>
          <a:ln/>
        </p:spPr>
        <p:txBody>
          <a:bodyPr wrap="square" lIns="0" tIns="0" rIns="0" bIns="0" rtlCol="0" anchor="ctr">
            <a:normAutofit/>
          </a:bodyPr>
          <a:lstStyle/>
          <a:p>
            <a:pPr marL="0" indent="0" algn="ctr">
              <a:buNone/>
            </a:pPr>
            <a:r>
              <a:rPr lang="en-US" sz="2200" dirty="0">
                <a:solidFill>
                  <a:srgbClr val="FFFFFF"/>
                </a:solidFill>
                <a:latin typeface="Bodoni MT" pitchFamily="34" charset="0"/>
                <a:ea typeface="Bodoni MT" pitchFamily="34" charset="-122"/>
                <a:cs typeface="Bodoni MT" pitchFamily="34" charset="-120"/>
              </a:rPr>
              <a:t>Seven deliberate choices - </a:t>
            </a:r>
            <a:r>
              <a:rPr lang="en-US" sz="2200" b="1" dirty="0">
                <a:solidFill>
                  <a:srgbClr val="FF0000"/>
                </a:solidFill>
                <a:latin typeface="Bodoni MT" pitchFamily="34" charset="0"/>
                <a:ea typeface="Bodoni MT" pitchFamily="34" charset="-122"/>
                <a:cs typeface="Bodoni MT" pitchFamily="34" charset="-120"/>
              </a:rPr>
              <a:t>every one</a:t>
            </a:r>
            <a:r>
              <a:rPr lang="en-US" sz="2200" dirty="0">
                <a:solidFill>
                  <a:srgbClr val="FFFFFF"/>
                </a:solidFill>
                <a:latin typeface="Bodoni MT" pitchFamily="34" charset="0"/>
                <a:ea typeface="Bodoni MT" pitchFamily="34" charset="-122"/>
                <a:cs typeface="Bodoni MT" pitchFamily="34" charset="-120"/>
              </a:rPr>
              <a:t> of them visible in the benchmark</a:t>
            </a:r>
            <a:endParaRPr lang="en-US" sz="2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12064" y="2423160"/>
          <a:ext cx="23362920" cy="914400"/>
        </p:xfrm>
        <a:graphic>
          <a:graphicData uri="http://schemas.openxmlformats.org/drawingml/2006/table">
            <a:tbl>
              <a:tblPr/>
              <a:tblGrid>
                <a:gridCol w="5120640">
                  <a:extLst>
                    <a:ext uri="{9D8B030D-6E8A-4147-A177-3AD203B41FA5}">
                      <a16:colId xmlns:a16="http://schemas.microsoft.com/office/drawing/2014/main" val="20000"/>
                    </a:ext>
                  </a:extLst>
                </a:gridCol>
                <a:gridCol w="8412480">
                  <a:extLst>
                    <a:ext uri="{9D8B030D-6E8A-4147-A177-3AD203B41FA5}">
                      <a16:colId xmlns:a16="http://schemas.microsoft.com/office/drawing/2014/main" val="20001"/>
                    </a:ext>
                  </a:extLst>
                </a:gridCol>
                <a:gridCol w="9829800">
                  <a:extLst>
                    <a:ext uri="{9D8B030D-6E8A-4147-A177-3AD203B41FA5}">
                      <a16:colId xmlns:a16="http://schemas.microsoft.com/office/drawing/2014/main" val="20002"/>
                    </a:ext>
                  </a:extLst>
                </a:gridCol>
              </a:tblGrid>
              <a:tr h="1060704">
                <a:tc>
                  <a:txBody>
                    <a:bodyPr/>
                    <a:lstStyle/>
                    <a:p>
                      <a:pPr marL="0" indent="0" algn="l">
                        <a:buNone/>
                      </a:pPr>
                      <a:endParaRPr lang="en-US" sz="21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2F1757"/>
                    </a:solidFill>
                  </a:tcPr>
                </a:tc>
                <a:tc>
                  <a:txBody>
                    <a:bodyPr/>
                    <a:lstStyle/>
                    <a:p>
                      <a:pPr marL="0" indent="0" algn="l">
                        <a:buNone/>
                      </a:pPr>
                      <a:r>
                        <a:rPr lang="en-US" sz="2100" b="1" dirty="0">
                          <a:solidFill>
                            <a:srgbClr val="FFFFFF"/>
                          </a:solidFill>
                          <a:latin typeface="Arial" pitchFamily="34" charset="0"/>
                          <a:ea typeface="Arial" pitchFamily="34" charset="-122"/>
                          <a:cs typeface="Arial" pitchFamily="34" charset="-120"/>
                        </a:rPr>
                        <a:t>Generic document AI</a:t>
                      </a:r>
                      <a:endParaRPr lang="en-US" sz="21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2F1757"/>
                    </a:solidFill>
                  </a:tcPr>
                </a:tc>
                <a:tc>
                  <a:txBody>
                    <a:bodyPr/>
                    <a:lstStyle/>
                    <a:p>
                      <a:pPr marL="0" indent="0" algn="l">
                        <a:buNone/>
                      </a:pPr>
                      <a:r>
                        <a:rPr lang="en-US" sz="2100" b="1" dirty="0">
                          <a:solidFill>
                            <a:srgbClr val="FFFFFF"/>
                          </a:solidFill>
                          <a:latin typeface="Arial" pitchFamily="34" charset="0"/>
                          <a:ea typeface="Arial" pitchFamily="34" charset="-122"/>
                          <a:cs typeface="Arial" pitchFamily="34" charset="-120"/>
                        </a:rPr>
                        <a:t>Avagama MiddleEast Docs</a:t>
                      </a:r>
                      <a:endParaRPr lang="en-US" sz="21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37205D"/>
                    </a:solidFill>
                  </a:tcPr>
                </a:tc>
                <a:extLst>
                  <a:ext uri="{0D108BD9-81ED-4DB2-BD59-A6C34878D82A}">
                    <a16:rowId xmlns:a16="http://schemas.microsoft.com/office/drawing/2014/main" val="10000"/>
                  </a:ext>
                </a:extLst>
              </a:tr>
              <a:tr h="1060704">
                <a:tc>
                  <a:txBody>
                    <a:bodyPr/>
                    <a:lstStyle/>
                    <a:p>
                      <a:pPr marL="0" indent="0">
                        <a:buNone/>
                      </a:pPr>
                      <a:r>
                        <a:rPr lang="en-US" sz="2000" b="1" dirty="0">
                          <a:solidFill>
                            <a:srgbClr val="2F1757"/>
                          </a:solidFill>
                          <a:latin typeface="Arial" pitchFamily="34" charset="0"/>
                          <a:ea typeface="Arial" pitchFamily="34" charset="-122"/>
                          <a:cs typeface="Arial" pitchFamily="34" charset="-120"/>
                        </a:rPr>
                        <a:t>Arabic spelling</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EF7FE"/>
                    </a:solidFill>
                  </a:tcPr>
                </a:tc>
                <a:tc>
                  <a:txBody>
                    <a:bodyPr/>
                    <a:lstStyle/>
                    <a:p>
                      <a:pPr marL="0" indent="0">
                        <a:buNone/>
                      </a:pPr>
                      <a:r>
                        <a:rPr lang="en-US" sz="2000" dirty="0">
                          <a:solidFill>
                            <a:srgbClr val="262629"/>
                          </a:solidFill>
                          <a:latin typeface="Arial" pitchFamily="34" charset="0"/>
                          <a:ea typeface="Arial" pitchFamily="34" charset="-122"/>
                          <a:cs typeface="Arial" pitchFamily="34" charset="-120"/>
                        </a:rPr>
                        <a:t>Treated like English text</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EF7FE"/>
                    </a:solidFill>
                  </a:tcPr>
                </a:tc>
                <a:tc>
                  <a:txBody>
                    <a:bodyPr/>
                    <a:lstStyle/>
                    <a:p>
                      <a:pPr marL="0" indent="0">
                        <a:buNone/>
                      </a:pPr>
                      <a:r>
                        <a:rPr lang="en-US" sz="2000" b="1" dirty="0">
                          <a:solidFill>
                            <a:srgbClr val="2F1757"/>
                          </a:solidFill>
                          <a:latin typeface="Arial" pitchFamily="34" charset="0"/>
                          <a:ea typeface="Arial" pitchFamily="34" charset="-122"/>
                          <a:cs typeface="Arial" pitchFamily="34" charset="-120"/>
                        </a:rPr>
                        <a:t>Six spelling variants unified before indexing</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9DCD9"/>
                    </a:solidFill>
                  </a:tcPr>
                </a:tc>
                <a:extLst>
                  <a:ext uri="{0D108BD9-81ED-4DB2-BD59-A6C34878D82A}">
                    <a16:rowId xmlns:a16="http://schemas.microsoft.com/office/drawing/2014/main" val="10001"/>
                  </a:ext>
                </a:extLst>
              </a:tr>
              <a:tr h="1060704">
                <a:tc>
                  <a:txBody>
                    <a:bodyPr/>
                    <a:lstStyle/>
                    <a:p>
                      <a:pPr marL="0" indent="0">
                        <a:buNone/>
                      </a:pPr>
                      <a:r>
                        <a:rPr lang="en-US" sz="2000" b="1" dirty="0">
                          <a:solidFill>
                            <a:srgbClr val="2F1757"/>
                          </a:solidFill>
                          <a:latin typeface="Arial" pitchFamily="34" charset="0"/>
                          <a:ea typeface="Arial" pitchFamily="34" charset="-122"/>
                          <a:cs typeface="Arial" pitchFamily="34" charset="-120"/>
                        </a:rPr>
                        <a:t>Search method</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FFFFF"/>
                    </a:solidFill>
                  </a:tcPr>
                </a:tc>
                <a:tc>
                  <a:txBody>
                    <a:bodyPr/>
                    <a:lstStyle/>
                    <a:p>
                      <a:pPr marL="0" indent="0">
                        <a:buNone/>
                      </a:pPr>
                      <a:r>
                        <a:rPr lang="en-US" sz="2000" dirty="0">
                          <a:solidFill>
                            <a:srgbClr val="262629"/>
                          </a:solidFill>
                          <a:latin typeface="Arial" pitchFamily="34" charset="0"/>
                          <a:ea typeface="Arial" pitchFamily="34" charset="-122"/>
                          <a:cs typeface="Arial" pitchFamily="34" charset="-120"/>
                        </a:rPr>
                        <a:t>Meaning search only</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FFFFF"/>
                    </a:solidFill>
                  </a:tcPr>
                </a:tc>
                <a:tc>
                  <a:txBody>
                    <a:bodyPr/>
                    <a:lstStyle/>
                    <a:p>
                      <a:pPr marL="0" indent="0">
                        <a:buNone/>
                      </a:pPr>
                      <a:r>
                        <a:rPr lang="en-US" sz="2000" b="1" dirty="0">
                          <a:solidFill>
                            <a:srgbClr val="2F1757"/>
                          </a:solidFill>
                          <a:latin typeface="Arial" pitchFamily="34" charset="0"/>
                          <a:ea typeface="Arial" pitchFamily="34" charset="-122"/>
                          <a:cs typeface="Arial" pitchFamily="34" charset="-120"/>
                        </a:rPr>
                        <a:t>Keyword + meaning, fused, then re-ranked</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E6DDF5"/>
                    </a:solidFill>
                  </a:tcPr>
                </a:tc>
                <a:extLst>
                  <a:ext uri="{0D108BD9-81ED-4DB2-BD59-A6C34878D82A}">
                    <a16:rowId xmlns:a16="http://schemas.microsoft.com/office/drawing/2014/main" val="10002"/>
                  </a:ext>
                </a:extLst>
              </a:tr>
              <a:tr h="1060704">
                <a:tc>
                  <a:txBody>
                    <a:bodyPr/>
                    <a:lstStyle/>
                    <a:p>
                      <a:pPr marL="0" indent="0">
                        <a:buNone/>
                      </a:pPr>
                      <a:r>
                        <a:rPr lang="en-US" sz="2000" b="1" dirty="0">
                          <a:solidFill>
                            <a:srgbClr val="2F1757"/>
                          </a:solidFill>
                          <a:latin typeface="Arial" pitchFamily="34" charset="0"/>
                          <a:ea typeface="Arial" pitchFamily="34" charset="-122"/>
                          <a:cs typeface="Arial" pitchFamily="34" charset="-120"/>
                        </a:rPr>
                        <a:t>Exact codes and IBANs</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EF7FE"/>
                    </a:solidFill>
                  </a:tcPr>
                </a:tc>
                <a:tc>
                  <a:txBody>
                    <a:bodyPr/>
                    <a:lstStyle/>
                    <a:p>
                      <a:pPr marL="0" indent="0">
                        <a:buNone/>
                      </a:pPr>
                      <a:r>
                        <a:rPr lang="en-US" sz="2000" dirty="0">
                          <a:solidFill>
                            <a:srgbClr val="262629"/>
                          </a:solidFill>
                          <a:latin typeface="Arial" pitchFamily="34" charset="0"/>
                          <a:ea typeface="Arial" pitchFamily="34" charset="-122"/>
                          <a:cs typeface="Arial" pitchFamily="34" charset="-120"/>
                        </a:rPr>
                        <a:t>Often blurred or missed</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EF7FE"/>
                    </a:solidFill>
                  </a:tcPr>
                </a:tc>
                <a:tc>
                  <a:txBody>
                    <a:bodyPr/>
                    <a:lstStyle/>
                    <a:p>
                      <a:pPr marL="0" indent="0">
                        <a:buNone/>
                      </a:pPr>
                      <a:r>
                        <a:rPr lang="en-US" sz="2000" b="1" dirty="0">
                          <a:solidFill>
                            <a:srgbClr val="2F1757"/>
                          </a:solidFill>
                          <a:latin typeface="Arial" pitchFamily="34" charset="0"/>
                          <a:ea typeface="Arial" pitchFamily="34" charset="-122"/>
                          <a:cs typeface="Arial" pitchFamily="34" charset="-120"/>
                        </a:rPr>
                        <a:t>Found exactly, by keyword search</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9DCD9"/>
                    </a:solidFill>
                  </a:tcPr>
                </a:tc>
                <a:extLst>
                  <a:ext uri="{0D108BD9-81ED-4DB2-BD59-A6C34878D82A}">
                    <a16:rowId xmlns:a16="http://schemas.microsoft.com/office/drawing/2014/main" val="10003"/>
                  </a:ext>
                </a:extLst>
              </a:tr>
              <a:tr h="1060704">
                <a:tc>
                  <a:txBody>
                    <a:bodyPr/>
                    <a:lstStyle/>
                    <a:p>
                      <a:pPr marL="0" indent="0">
                        <a:buNone/>
                      </a:pPr>
                      <a:r>
                        <a:rPr lang="en-US" sz="2000" b="1" dirty="0">
                          <a:solidFill>
                            <a:srgbClr val="2F1757"/>
                          </a:solidFill>
                          <a:latin typeface="Arial" pitchFamily="34" charset="0"/>
                          <a:ea typeface="Arial" pitchFamily="34" charset="-122"/>
                          <a:cs typeface="Arial" pitchFamily="34" charset="-120"/>
                        </a:rPr>
                        <a:t>Scanned price tables</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FFFFF"/>
                    </a:solidFill>
                  </a:tcPr>
                </a:tc>
                <a:tc>
                  <a:txBody>
                    <a:bodyPr/>
                    <a:lstStyle/>
                    <a:p>
                      <a:pPr marL="0" indent="0">
                        <a:buNone/>
                      </a:pPr>
                      <a:r>
                        <a:rPr lang="en-US" sz="2000" dirty="0">
                          <a:solidFill>
                            <a:srgbClr val="262629"/>
                          </a:solidFill>
                          <a:latin typeface="Arial" pitchFamily="34" charset="0"/>
                          <a:ea typeface="Arial" pitchFamily="34" charset="-122"/>
                          <a:cs typeface="Arial" pitchFamily="34" charset="-120"/>
                        </a:rPr>
                        <a:t>Flattened into loose text</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FFFFF"/>
                    </a:solidFill>
                  </a:tcPr>
                </a:tc>
                <a:tc>
                  <a:txBody>
                    <a:bodyPr/>
                    <a:lstStyle/>
                    <a:p>
                      <a:pPr marL="0" indent="0">
                        <a:buNone/>
                      </a:pPr>
                      <a:r>
                        <a:rPr lang="en-US" sz="2000" b="1" dirty="0">
                          <a:solidFill>
                            <a:srgbClr val="2F1757"/>
                          </a:solidFill>
                          <a:latin typeface="Arial" pitchFamily="34" charset="0"/>
                          <a:ea typeface="Arial" pitchFamily="34" charset="-122"/>
                          <a:cs typeface="Arial" pitchFamily="34" charset="-120"/>
                        </a:rPr>
                        <a:t>Kept as tables, never split from the header</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E6DDF5"/>
                    </a:solidFill>
                  </a:tcPr>
                </a:tc>
                <a:extLst>
                  <a:ext uri="{0D108BD9-81ED-4DB2-BD59-A6C34878D82A}">
                    <a16:rowId xmlns:a16="http://schemas.microsoft.com/office/drawing/2014/main" val="10004"/>
                  </a:ext>
                </a:extLst>
              </a:tr>
              <a:tr h="1060704">
                <a:tc>
                  <a:txBody>
                    <a:bodyPr/>
                    <a:lstStyle/>
                    <a:p>
                      <a:pPr marL="0" indent="0">
                        <a:buNone/>
                      </a:pPr>
                      <a:r>
                        <a:rPr lang="en-US" sz="2000" b="1" dirty="0">
                          <a:solidFill>
                            <a:srgbClr val="2F1757"/>
                          </a:solidFill>
                          <a:latin typeface="Arial" pitchFamily="34" charset="0"/>
                          <a:ea typeface="Arial" pitchFamily="34" charset="-122"/>
                          <a:cs typeface="Arial" pitchFamily="34" charset="-120"/>
                        </a:rPr>
                        <a:t>Answer language</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EF7FE"/>
                    </a:solidFill>
                  </a:tcPr>
                </a:tc>
                <a:tc>
                  <a:txBody>
                    <a:bodyPr/>
                    <a:lstStyle/>
                    <a:p>
                      <a:pPr marL="0" indent="0">
                        <a:buNone/>
                      </a:pPr>
                      <a:r>
                        <a:rPr lang="en-US" sz="2000" dirty="0">
                          <a:solidFill>
                            <a:srgbClr val="262629"/>
                          </a:solidFill>
                          <a:latin typeface="Arial" pitchFamily="34" charset="0"/>
                          <a:ea typeface="Arial" pitchFamily="34" charset="-122"/>
                          <a:cs typeface="Arial" pitchFamily="34" charset="-120"/>
                        </a:rPr>
                        <a:t>Usually English</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EF7FE"/>
                    </a:solidFill>
                  </a:tcPr>
                </a:tc>
                <a:tc>
                  <a:txBody>
                    <a:bodyPr/>
                    <a:lstStyle/>
                    <a:p>
                      <a:pPr marL="0" indent="0">
                        <a:buNone/>
                      </a:pPr>
                      <a:r>
                        <a:rPr lang="en-US" sz="2000" b="1" dirty="0">
                          <a:solidFill>
                            <a:srgbClr val="2F1757"/>
                          </a:solidFill>
                          <a:latin typeface="Arial" pitchFamily="34" charset="0"/>
                          <a:ea typeface="Arial" pitchFamily="34" charset="-122"/>
                          <a:cs typeface="Arial" pitchFamily="34" charset="-120"/>
                        </a:rPr>
                        <a:t>The language of the question, checked and retried</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9DCD9"/>
                    </a:solidFill>
                  </a:tcPr>
                </a:tc>
                <a:extLst>
                  <a:ext uri="{0D108BD9-81ED-4DB2-BD59-A6C34878D82A}">
                    <a16:rowId xmlns:a16="http://schemas.microsoft.com/office/drawing/2014/main" val="10005"/>
                  </a:ext>
                </a:extLst>
              </a:tr>
              <a:tr h="1060704">
                <a:tc>
                  <a:txBody>
                    <a:bodyPr/>
                    <a:lstStyle/>
                    <a:p>
                      <a:pPr marL="0" indent="0">
                        <a:buNone/>
                      </a:pPr>
                      <a:r>
                        <a:rPr lang="en-US" sz="2000" b="1" dirty="0">
                          <a:solidFill>
                            <a:srgbClr val="2F1757"/>
                          </a:solidFill>
                          <a:latin typeface="Arial" pitchFamily="34" charset="0"/>
                          <a:ea typeface="Arial" pitchFamily="34" charset="-122"/>
                          <a:cs typeface="Arial" pitchFamily="34" charset="-120"/>
                        </a:rPr>
                        <a:t>Where the model runs</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FFFFF"/>
                    </a:solidFill>
                  </a:tcPr>
                </a:tc>
                <a:tc>
                  <a:txBody>
                    <a:bodyPr/>
                    <a:lstStyle/>
                    <a:p>
                      <a:pPr marL="0" indent="0">
                        <a:buNone/>
                      </a:pPr>
                      <a:r>
                        <a:rPr lang="en-US" sz="2000" dirty="0">
                          <a:solidFill>
                            <a:srgbClr val="262629"/>
                          </a:solidFill>
                          <a:latin typeface="Arial" pitchFamily="34" charset="0"/>
                          <a:ea typeface="Arial" pitchFamily="34" charset="-122"/>
                          <a:cs typeface="Arial" pitchFamily="34" charset="-120"/>
                        </a:rPr>
                        <a:t>A US hyperscaler</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FFFFF"/>
                    </a:solidFill>
                  </a:tcPr>
                </a:tc>
                <a:tc>
                  <a:txBody>
                    <a:bodyPr/>
                    <a:lstStyle/>
                    <a:p>
                      <a:pPr marL="0" indent="0">
                        <a:buNone/>
                      </a:pPr>
                      <a:r>
                        <a:rPr lang="en-US" sz="2000" b="1" dirty="0">
                          <a:solidFill>
                            <a:srgbClr val="2F1757"/>
                          </a:solidFill>
                          <a:latin typeface="Arial" pitchFamily="34" charset="0"/>
                          <a:ea typeface="Arial" pitchFamily="34" charset="-122"/>
                          <a:cs typeface="Arial" pitchFamily="34" charset="-120"/>
                        </a:rPr>
                        <a:t>Gulf-built Fanar - self-hostable on your servers</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E6DDF5"/>
                    </a:solidFill>
                  </a:tcPr>
                </a:tc>
                <a:extLst>
                  <a:ext uri="{0D108BD9-81ED-4DB2-BD59-A6C34878D82A}">
                    <a16:rowId xmlns:a16="http://schemas.microsoft.com/office/drawing/2014/main" val="10006"/>
                  </a:ext>
                </a:extLst>
              </a:tr>
              <a:tr h="1060704">
                <a:tc>
                  <a:txBody>
                    <a:bodyPr/>
                    <a:lstStyle/>
                    <a:p>
                      <a:pPr marL="0" indent="0">
                        <a:buNone/>
                      </a:pPr>
                      <a:r>
                        <a:rPr lang="en-US" sz="2000" b="1" dirty="0">
                          <a:solidFill>
                            <a:srgbClr val="2F1757"/>
                          </a:solidFill>
                          <a:latin typeface="Arial" pitchFamily="34" charset="0"/>
                          <a:ea typeface="Arial" pitchFamily="34" charset="-122"/>
                          <a:cs typeface="Arial" pitchFamily="34" charset="-120"/>
                        </a:rPr>
                        <a:t>Proof it works</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EF7FE"/>
                    </a:solidFill>
                  </a:tcPr>
                </a:tc>
                <a:tc>
                  <a:txBody>
                    <a:bodyPr/>
                    <a:lstStyle/>
                    <a:p>
                      <a:pPr marL="0" indent="0">
                        <a:buNone/>
                      </a:pPr>
                      <a:r>
                        <a:rPr lang="en-US" sz="2000" dirty="0">
                          <a:solidFill>
                            <a:srgbClr val="262629"/>
                          </a:solidFill>
                          <a:latin typeface="Arial" pitchFamily="34" charset="0"/>
                          <a:ea typeface="Arial" pitchFamily="34" charset="-122"/>
                          <a:cs typeface="Arial" pitchFamily="34" charset="-120"/>
                        </a:rPr>
                        <a:t>A demo</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EF7FE"/>
                    </a:solidFill>
                  </a:tcPr>
                </a:tc>
                <a:tc>
                  <a:txBody>
                    <a:bodyPr/>
                    <a:lstStyle/>
                    <a:p>
                      <a:pPr marL="0" indent="0">
                        <a:buNone/>
                      </a:pPr>
                      <a:r>
                        <a:rPr lang="en-US" sz="2000" b="1" dirty="0">
                          <a:solidFill>
                            <a:srgbClr val="2F1757"/>
                          </a:solidFill>
                          <a:latin typeface="Arial" pitchFamily="34" charset="0"/>
                          <a:ea typeface="Arial" pitchFamily="34" charset="-122"/>
                          <a:cs typeface="Arial" pitchFamily="34" charset="-120"/>
                        </a:rPr>
                        <a:t>15 agreed answers, re-scored on every change</a:t>
                      </a:r>
                      <a:endParaRPr lang="en-US" sz="2000" dirty="0">
                        <a:latin typeface="Arial" charset="0"/>
                        <a:ea typeface="Arial" charset="0"/>
                        <a:cs typeface="Arial" charset="0"/>
                      </a:endParaRPr>
                    </a:p>
                  </a:txBody>
                  <a:tcPr marL="177800" marR="177800" marT="127000" marB="127000" anchor="ctr">
                    <a:lnL w="12700" cap="flat" cmpd="sng" algn="ctr">
                      <a:solidFill>
                        <a:srgbClr val="DDD3EC"/>
                      </a:solidFill>
                      <a:prstDash val="solid"/>
                      <a:round/>
                      <a:headEnd type="none" w="med" len="med"/>
                      <a:tailEnd type="none" w="med" len="med"/>
                    </a:lnL>
                    <a:lnR w="12700" cap="flat" cmpd="sng" algn="ctr">
                      <a:solidFill>
                        <a:srgbClr val="DDD3EC"/>
                      </a:solidFill>
                      <a:prstDash val="solid"/>
                      <a:round/>
                      <a:headEnd type="none" w="med" len="med"/>
                      <a:tailEnd type="none" w="med" len="med"/>
                    </a:lnR>
                    <a:lnT w="12700" cap="flat" cmpd="sng" algn="ctr">
                      <a:solidFill>
                        <a:srgbClr val="DDD3EC"/>
                      </a:solidFill>
                      <a:prstDash val="solid"/>
                      <a:round/>
                      <a:headEnd type="none" w="med" len="med"/>
                      <a:tailEnd type="none" w="med" len="med"/>
                    </a:lnT>
                    <a:lnB w="12700" cap="flat" cmpd="sng" algn="ctr">
                      <a:solidFill>
                        <a:srgbClr val="DDD3EC"/>
                      </a:solidFill>
                      <a:prstDash val="solid"/>
                      <a:round/>
                      <a:headEnd type="none" w="med" len="med"/>
                      <a:tailEnd type="none" w="med" len="med"/>
                    </a:lnB>
                    <a:solidFill>
                      <a:srgbClr val="F9DCD9"/>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20208240" y="12911328"/>
            <a:ext cx="82296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DDF5"/>
                </a:solidFill>
                <a:latin typeface="Arial"/>
                <a:ea typeface="Arial"/>
                <a:cs typeface="Aria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1828800" y="2926080"/>
            <a:ext cx="18288000" cy="5943600"/>
          </a:xfrm>
          <a:prstGeom prst="rect">
            <a:avLst/>
          </a:prstGeom>
          <a:noFill/>
          <a:ln/>
        </p:spPr>
        <p:txBody>
          <a:bodyPr wrap="square" lIns="0" tIns="0" rIns="0" bIns="0" rtlCol="0" anchor="ctr">
            <a:normAutofit/>
          </a:bodyPr>
          <a:lstStyle/>
          <a:p>
            <a:pPr marL="0" indent="0">
              <a:lnSpc>
                <a:spcPct val="100000"/>
              </a:lnSpc>
              <a:buNone/>
            </a:pPr>
            <a:r>
              <a:rPr lang="en-US" sz="7200" dirty="0">
                <a:solidFill>
                  <a:srgbClr val="FFFFFF"/>
                </a:solidFill>
                <a:latin typeface="Bodoni MT" pitchFamily="34" charset="0"/>
                <a:ea typeface="Bodoni MT" pitchFamily="34" charset="-122"/>
                <a:cs typeface="Bodoni MT" pitchFamily="34" charset="-120"/>
              </a:rPr>
              <a:t>Built for the Gulf, not </a:t>
            </a:r>
            <a:r>
              <a:rPr lang="en-US" sz="7200" i="1" dirty="0">
                <a:solidFill>
                  <a:srgbClr val="F09286"/>
                </a:solidFill>
                <a:latin typeface="Bodoni MT" pitchFamily="34" charset="0"/>
                <a:ea typeface="Bodoni MT" pitchFamily="34" charset="-122"/>
                <a:cs typeface="Bodoni MT" pitchFamily="34" charset="-120"/>
              </a:rPr>
              <a:t>translated</a:t>
            </a:r>
            <a:r>
              <a:rPr lang="en-US" sz="7200" dirty="0">
                <a:solidFill>
                  <a:srgbClr val="FFFFFF"/>
                </a:solidFill>
                <a:latin typeface="Bodoni MT" pitchFamily="34" charset="0"/>
                <a:ea typeface="Bodoni MT" pitchFamily="34" charset="-122"/>
                <a:cs typeface="Bodoni MT" pitchFamily="34" charset="-120"/>
              </a:rPr>
              <a:t> for it.</a:t>
            </a:r>
            <a:endParaRPr lang="en-US" sz="7200" dirty="0"/>
          </a:p>
        </p:txBody>
      </p:sp>
      <p:pic>
        <p:nvPicPr>
          <p:cNvPr id="3" name="Image 0" descr="C:\Users\Dell\.claude\skills\synced\eb4eaa5e-fe0b-45c9-9571-743d8da5acee_0850b5be-1ed7-4d2f-80b3-99313ab5efc0\avaali-brand-pptx\assets\brand\red_underline.png"/>
          <p:cNvPicPr>
            <a:picLocks noChangeAspect="1"/>
          </p:cNvPicPr>
          <p:nvPr/>
        </p:nvPicPr>
        <p:blipFill>
          <a:blip r:embed="rId3"/>
          <a:stretch>
            <a:fillRect/>
          </a:stretch>
        </p:blipFill>
        <p:spPr>
          <a:xfrm>
            <a:off x="1874520" y="9326880"/>
            <a:ext cx="2423160" cy="73152"/>
          </a:xfrm>
          <a:prstGeom prst="rect">
            <a:avLst/>
          </a:prstGeom>
        </p:spPr>
      </p:pic>
      <p:sp>
        <p:nvSpPr>
          <p:cNvPr id="4" name="Text 1"/>
          <p:cNvSpPr txBox="1"/>
          <p:nvPr/>
        </p:nvSpPr>
        <p:spPr>
          <a:xfrm>
            <a:off x="1828800" y="9692640"/>
            <a:ext cx="14630400" cy="731520"/>
          </a:xfrm>
          <a:prstGeom prst="rect">
            <a:avLst/>
          </a:prstGeom>
          <a:noFill/>
          <a:ln/>
        </p:spPr>
        <p:txBody>
          <a:bodyPr wrap="square" lIns="0" tIns="0" rIns="0" bIns="0" rtlCol="0" anchor="ctr"/>
          <a:lstStyle/>
          <a:p>
            <a:pPr marL="0" indent="0">
              <a:buNone/>
            </a:pPr>
            <a:r>
              <a:rPr lang="en-US" sz="2200" b="1" kern="0" spc="300" dirty="0">
                <a:solidFill>
                  <a:srgbClr val="E6DDF5"/>
                </a:solidFill>
                <a:latin typeface="Arial" pitchFamily="34" charset="0"/>
                <a:ea typeface="Arial" pitchFamily="34" charset="-122"/>
                <a:cs typeface="Arial" pitchFamily="34" charset="-120"/>
              </a:rPr>
              <a:t>AVAGAMA MIDDLEEAST DOCS</a:t>
            </a:r>
            <a:endParaRPr lang="en-US" sz="2200" dirty="0"/>
          </a:p>
        </p:txBody>
      </p:sp>
      <p:pic>
        <p:nvPicPr>
          <p:cNvPr id="5" name="Image 1" descr="C:\Users\Dell\.claude\skills\synced\eb4eaa5e-fe0b-45c9-9571-743d8da5acee_0850b5be-1ed7-4d2f-80b3-99313ab5efc0\avaali-brand-pptx\assets\brand\avaali_logo_red.png"/>
          <p:cNvPicPr>
            <a:picLocks noChangeAspect="1"/>
          </p:cNvPicPr>
          <p:nvPr/>
        </p:nvPicPr>
        <p:blipFill>
          <a:blip r:embed="rId4"/>
          <a:stretch>
            <a:fillRect/>
          </a:stretch>
        </p:blipFill>
        <p:spPr>
          <a:xfrm>
            <a:off x="21360384" y="12810744"/>
            <a:ext cx="2423160" cy="685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Users\Dell\.claude\skills\synced\eb4eaa5e-fe0b-45c9-9571-743d8da5acee_0850b5be-1ed7-4d2f-80b3-99313ab5efc0\avaali-brand-pptx\assets\brand\avaali_logo_red.png"/>
          <p:cNvPicPr>
            <a:picLocks noChangeAspect="1"/>
          </p:cNvPicPr>
          <p:nvPr/>
        </p:nvPicPr>
        <p:blipFill>
          <a:blip r:embed="rId3"/>
          <a:stretch>
            <a:fillRect/>
          </a:stretch>
        </p:blipFill>
        <p:spPr>
          <a:xfrm>
            <a:off x="859536" y="2011680"/>
            <a:ext cx="3054096" cy="859536"/>
          </a:xfrm>
          <a:prstGeom prst="rect">
            <a:avLst/>
          </a:prstGeom>
        </p:spPr>
      </p:pic>
      <p:sp>
        <p:nvSpPr>
          <p:cNvPr id="3" name="Text 0"/>
          <p:cNvSpPr txBox="1"/>
          <p:nvPr/>
        </p:nvSpPr>
        <p:spPr>
          <a:xfrm>
            <a:off x="822960" y="3931920"/>
            <a:ext cx="11887200" cy="2468880"/>
          </a:xfrm>
          <a:prstGeom prst="rect">
            <a:avLst/>
          </a:prstGeom>
          <a:noFill/>
          <a:ln/>
        </p:spPr>
        <p:txBody>
          <a:bodyPr wrap="square" lIns="0" tIns="0" rIns="0" bIns="0" rtlCol="0" anchor="b"/>
          <a:lstStyle/>
          <a:p>
            <a:pPr marL="0" indent="0">
              <a:buNone/>
            </a:pPr>
            <a:r>
              <a:rPr lang="en-US" sz="6000" dirty="0">
                <a:solidFill>
                  <a:srgbClr val="37205D"/>
                </a:solidFill>
                <a:latin typeface="Bodoni MT" pitchFamily="34" charset="0"/>
                <a:ea typeface="Bodoni MT" pitchFamily="34" charset="-122"/>
                <a:cs typeface="Bodoni MT" pitchFamily="34" charset="-120"/>
              </a:rPr>
              <a:t>Let’s Talk</a:t>
            </a:r>
            <a:endParaRPr lang="en-US" sz="6000" dirty="0"/>
          </a:p>
        </p:txBody>
      </p:sp>
      <p:pic>
        <p:nvPicPr>
          <p:cNvPr id="4" name="Image 1" descr="C:\Users\Dell\.claude\skills\synced\eb4eaa5e-fe0b-45c9-9571-743d8da5acee_0850b5be-1ed7-4d2f-80b3-99313ab5efc0\avaali-brand-pptx\assets\brand\red_underline.png"/>
          <p:cNvPicPr>
            <a:picLocks noChangeAspect="1"/>
          </p:cNvPicPr>
          <p:nvPr/>
        </p:nvPicPr>
        <p:blipFill>
          <a:blip r:embed="rId4"/>
          <a:stretch>
            <a:fillRect/>
          </a:stretch>
        </p:blipFill>
        <p:spPr>
          <a:xfrm>
            <a:off x="850392" y="6693408"/>
            <a:ext cx="2231136" cy="73152"/>
          </a:xfrm>
          <a:prstGeom prst="rect">
            <a:avLst/>
          </a:prstGeom>
        </p:spPr>
      </p:pic>
      <p:sp>
        <p:nvSpPr>
          <p:cNvPr id="5" name="Text 1"/>
          <p:cNvSpPr txBox="1"/>
          <p:nvPr/>
        </p:nvSpPr>
        <p:spPr>
          <a:xfrm>
            <a:off x="850392" y="7086600"/>
            <a:ext cx="12344400" cy="685800"/>
          </a:xfrm>
          <a:prstGeom prst="rect">
            <a:avLst/>
          </a:prstGeom>
          <a:noFill/>
          <a:ln/>
        </p:spPr>
        <p:txBody>
          <a:bodyPr wrap="square" lIns="0" tIns="0" rIns="0" bIns="0" rtlCol="0" anchor="ctr"/>
          <a:lstStyle/>
          <a:p>
            <a:pPr marL="0" indent="0">
              <a:buNone/>
            </a:pPr>
            <a:r>
              <a:rPr lang="en-US" sz="2200" b="1" kern="0" spc="200" dirty="0">
                <a:solidFill>
                  <a:srgbClr val="616169"/>
                </a:solidFill>
                <a:latin typeface="Arial" pitchFamily="34" charset="0"/>
                <a:ea typeface="Arial" pitchFamily="34" charset="-122"/>
                <a:cs typeface="Arial" pitchFamily="34" charset="-120"/>
              </a:rPr>
              <a:t>REACH OUT TO START THE CONVERSATION</a:t>
            </a:r>
            <a:endParaRPr lang="en-US" sz="2200" dirty="0"/>
          </a:p>
        </p:txBody>
      </p:sp>
      <p:sp>
        <p:nvSpPr>
          <p:cNvPr id="6" name="Text 2"/>
          <p:cNvSpPr txBox="1"/>
          <p:nvPr/>
        </p:nvSpPr>
        <p:spPr>
          <a:xfrm>
            <a:off x="850392" y="8092440"/>
            <a:ext cx="11521440" cy="2651760"/>
          </a:xfrm>
          <a:prstGeom prst="rect">
            <a:avLst/>
          </a:prstGeom>
          <a:noFill/>
          <a:ln/>
        </p:spPr>
        <p:txBody>
          <a:bodyPr wrap="square" lIns="0" tIns="0" rIns="0" bIns="0" rtlCol="0" anchor="t">
            <a:normAutofit/>
          </a:bodyPr>
          <a:lstStyle/>
          <a:p>
            <a:pPr marL="0" indent="0">
              <a:lnSpc>
                <a:spcPct val="130000"/>
              </a:lnSpc>
              <a:buNone/>
            </a:pPr>
            <a:r>
              <a:rPr lang="en-US" sz="2400" dirty="0">
                <a:solidFill>
                  <a:srgbClr val="262629"/>
                </a:solidFill>
                <a:latin typeface="Arial" pitchFamily="34" charset="0"/>
                <a:ea typeface="Arial" pitchFamily="34" charset="-122"/>
                <a:cs typeface="Arial" pitchFamily="34" charset="-120"/>
              </a:rPr>
              <a:t>Avagama MiddleEast Docs runs on the pilot contracts today. The next step is to agree the document set for rollout, decide whether Fanar runs on MenaBev infrastructure, and extend the golden set with the business teams who will use it.</a:t>
            </a:r>
            <a:endParaRPr lang="en-US" sz="2400" dirty="0"/>
          </a:p>
        </p:txBody>
      </p:sp>
      <p:pic>
        <p:nvPicPr>
          <p:cNvPr id="7" name="Image 2" descr="C:\Users\Dell\.claude\skills\synced\eb4eaa5e-fe0b-45c9-9571-743d8da5acee_0850b5be-1ed7-4d2f-80b3-99313ab5efc0\avaali-brand-pptx\assets\brand\red_underline.png"/>
          <p:cNvPicPr>
            <a:picLocks noChangeAspect="1"/>
          </p:cNvPicPr>
          <p:nvPr/>
        </p:nvPicPr>
        <p:blipFill>
          <a:blip r:embed="rId4"/>
          <a:stretch>
            <a:fillRect/>
          </a:stretch>
        </p:blipFill>
        <p:spPr>
          <a:xfrm>
            <a:off x="850392" y="10927080"/>
            <a:ext cx="2231136" cy="73152"/>
          </a:xfrm>
          <a:prstGeom prst="rect">
            <a:avLst/>
          </a:prstGeom>
        </p:spPr>
      </p:pic>
      <p:sp>
        <p:nvSpPr>
          <p:cNvPr id="8" name="Text 3"/>
          <p:cNvSpPr txBox="1"/>
          <p:nvPr/>
        </p:nvSpPr>
        <p:spPr>
          <a:xfrm>
            <a:off x="13688568" y="5486400"/>
            <a:ext cx="9692640" cy="3931920"/>
          </a:xfrm>
          <a:prstGeom prst="rect">
            <a:avLst/>
          </a:prstGeom>
          <a:noFill/>
          <a:ln/>
        </p:spPr>
        <p:txBody>
          <a:bodyPr wrap="square" lIns="0" tIns="0" rIns="0" bIns="0" rtlCol="0" anchor="ctr">
            <a:normAutofit/>
          </a:bodyPr>
          <a:lstStyle/>
          <a:p>
            <a:pPr marL="0" indent="0">
              <a:lnSpc>
                <a:spcPct val="135000"/>
              </a:lnSpc>
              <a:buNone/>
            </a:pPr>
            <a:r>
              <a:rPr lang="en-US" sz="3400" b="1" dirty="0">
                <a:solidFill>
                  <a:srgbClr val="280458"/>
                </a:solidFill>
                <a:latin typeface="Bodoni MT" pitchFamily="34" charset="0"/>
                <a:ea typeface="Bodoni MT" pitchFamily="34" charset="-122"/>
                <a:cs typeface="Bodoni MT" pitchFamily="34" charset="-120"/>
              </a:rPr>
              <a:t>Email: </a:t>
            </a:r>
            <a:r>
              <a:rPr lang="en-US" sz="3400" b="1" u="sng" dirty="0">
                <a:solidFill>
                  <a:srgbClr val="280458"/>
                </a:solidFill>
                <a:latin typeface="Bodoni MT" pitchFamily="34" charset="0"/>
                <a:ea typeface="Bodoni MT" pitchFamily="34" charset="-122"/>
                <a:cs typeface="Bodoni MT" pitchFamily="34" charset="-120"/>
                <a:hlinkClick r:id="rId5">
                  <a:extLst>
                    <a:ext uri="{A12FA001-AC4F-418D-AE19-62706E023703}">
                      <ahyp:hlinkClr xmlns:ahyp="http://schemas.microsoft.com/office/drawing/2018/hyperlinkcolor" val="tx"/>
                    </a:ext>
                  </a:extLst>
                </a:hlinkClick>
              </a:rPr>
              <a:t>info@avaali.com</a:t>
            </a:r>
            <a:endParaRPr lang="en-US" sz="3400" dirty="0"/>
          </a:p>
          <a:p>
            <a:pPr marL="0" indent="0">
              <a:lnSpc>
                <a:spcPct val="135000"/>
              </a:lnSpc>
              <a:buNone/>
            </a:pPr>
            <a:r>
              <a:rPr lang="en-US" sz="3400" b="1" dirty="0">
                <a:solidFill>
                  <a:srgbClr val="280458"/>
                </a:solidFill>
                <a:latin typeface="Bodoni MT" pitchFamily="34" charset="0"/>
                <a:ea typeface="Bodoni MT" pitchFamily="34" charset="-122"/>
                <a:cs typeface="Bodoni MT" pitchFamily="34" charset="-120"/>
              </a:rPr>
              <a:t>Follow LinkedIn, X/Twitter, YouTube</a:t>
            </a:r>
            <a:endParaRPr lang="en-US" sz="3400" dirty="0"/>
          </a:p>
          <a:p>
            <a:pPr marL="0" indent="0">
              <a:lnSpc>
                <a:spcPct val="135000"/>
              </a:lnSpc>
              <a:buNone/>
            </a:pPr>
            <a:r>
              <a:rPr lang="en-US" sz="3400" b="1" dirty="0">
                <a:solidFill>
                  <a:srgbClr val="280458"/>
                </a:solidFill>
                <a:latin typeface="Bodoni MT" pitchFamily="34" charset="0"/>
                <a:ea typeface="Bodoni MT" pitchFamily="34" charset="-122"/>
                <a:cs typeface="Bodoni MT" pitchFamily="34" charset="-120"/>
              </a:rPr>
              <a:t>Website: </a:t>
            </a:r>
            <a:r>
              <a:rPr lang="en-US" sz="3400" b="1" u="sng" dirty="0">
                <a:solidFill>
                  <a:srgbClr val="280458"/>
                </a:solidFill>
                <a:latin typeface="Bodoni MT" pitchFamily="34" charset="0"/>
                <a:ea typeface="Bodoni MT" pitchFamily="34" charset="-122"/>
                <a:cs typeface="Bodoni MT" pitchFamily="34" charset="-120"/>
                <a:hlinkClick r:id="rId6">
                  <a:extLst>
                    <a:ext uri="{A12FA001-AC4F-418D-AE19-62706E023703}">
                      <ahyp:hlinkClr xmlns:ahyp="http://schemas.microsoft.com/office/drawing/2018/hyperlinkcolor" val="tx"/>
                    </a:ext>
                  </a:extLst>
                </a:hlinkClick>
              </a:rPr>
              <a:t>www.avaali.com</a:t>
            </a:r>
            <a:endParaRPr lang="en-US" sz="3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2664</Words>
  <Application>Microsoft Office PowerPoint</Application>
  <PresentationFormat>Custom</PresentationFormat>
  <Paragraphs>259</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Bodoni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Avaali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Avagama MiddleEast Docs</dc:title>
  <dc:subject>PptxGenJS Presentation</dc:subject>
  <dc:creator>Avaali Solutions</dc:creator>
  <cp:lastModifiedBy>Sai Prasad Eruventi</cp:lastModifiedBy>
  <cp:revision>2</cp:revision>
  <dcterms:created xsi:type="dcterms:W3CDTF">2026-10-14T06:40:35Z</dcterms:created>
  <dcterms:modified xsi:type="dcterms:W3CDTF">2026-10-14T06:44:26Z</dcterms:modified>
</cp:coreProperties>
</file>